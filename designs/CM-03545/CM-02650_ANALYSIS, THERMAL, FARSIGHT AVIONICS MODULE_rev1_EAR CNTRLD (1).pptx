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omments/modernComment_100_38F51A81.xml" ContentType="application/vnd.ms-powerpoint.comments+xml"/>
  <Override PartName="/ppt/comments/modernComment_102_B87A0C4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 id="2147483664" r:id="rId5"/>
    <p:sldMasterId id="2147483674" r:id="rId6"/>
    <p:sldMasterId id="2147483675" r:id="rId7"/>
  </p:sldMasterIdLst>
  <p:notesMasterIdLst>
    <p:notesMasterId r:id="rId29"/>
  </p:notesMasterIdLst>
  <p:handoutMasterIdLst>
    <p:handoutMasterId r:id="rId30"/>
  </p:handoutMasterIdLst>
  <p:sldIdLst>
    <p:sldId id="256" r:id="rId8"/>
    <p:sldId id="258" r:id="rId9"/>
    <p:sldId id="291" r:id="rId10"/>
    <p:sldId id="288" r:id="rId11"/>
    <p:sldId id="282" r:id="rId12"/>
    <p:sldId id="284" r:id="rId13"/>
    <p:sldId id="281" r:id="rId14"/>
    <p:sldId id="285" r:id="rId15"/>
    <p:sldId id="289" r:id="rId16"/>
    <p:sldId id="287" r:id="rId17"/>
    <p:sldId id="286" r:id="rId18"/>
    <p:sldId id="290" r:id="rId19"/>
    <p:sldId id="294" r:id="rId20"/>
    <p:sldId id="292" r:id="rId21"/>
    <p:sldId id="295" r:id="rId22"/>
    <p:sldId id="296" r:id="rId23"/>
    <p:sldId id="297" r:id="rId24"/>
    <p:sldId id="298" r:id="rId25"/>
    <p:sldId id="299" r:id="rId26"/>
    <p:sldId id="300" r:id="rId27"/>
    <p:sldId id="301" r:id="rId28"/>
  </p:sldIdLst>
  <p:sldSz cx="12192000" cy="6858000"/>
  <p:notesSz cx="7010400" cy="92964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6D35BAB-7CE8-5B65-6FC4-527A6B1582B7}" name="Austin Hannon" initials="AH" userId="S::ahannon@turionspace.com::99990611-18bc-4266-bc5d-27a9bce67108" providerId="AD"/>
  <p188:author id="{C038A2B1-9995-D9CB-496B-7FF71F889279}" name="Saurin Holdheim" initials="SH" userId="S::sholdheim@turionspace.com::d339c471-82a6-417f-b16c-633229466330" providerId="AD"/>
  <p188:author id="{BE7259D8-5C8E-75ED-F4F4-FB86AE61FDC4}" name="Casper Versteeg" initials="CV" userId="S::cversteeg@turionspace.com::a63146ed-bef2-42e4-a96a-9c5adb0385b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evin Kallay" initials="KK" lastIdx="1" clrIdx="0">
    <p:extLst>
      <p:ext uri="{19B8F6BF-5375-455C-9EA6-DF929625EA0E}">
        <p15:presenceInfo xmlns:p15="http://schemas.microsoft.com/office/powerpoint/2012/main" userId="Kevin Kalla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5EA"/>
    <a:srgbClr val="E9EBF5"/>
    <a:srgbClr val="98A5B0"/>
    <a:srgbClr val="F4B183"/>
    <a:srgbClr val="00B0F0"/>
    <a:srgbClr val="00B050"/>
    <a:srgbClr val="FFF2CC"/>
    <a:srgbClr val="E1D5E7"/>
    <a:srgbClr val="FDFDFD"/>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92829D-C01C-8E6C-E73B-A2326EF36ABF}" v="112" dt="2026-04-14T22:46:58.2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s>
</file>

<file path=ppt/comments/modernComment_100_38F51A81.xml><?xml version="1.0" encoding="utf-8"?>
<p188:cmLst xmlns:a="http://schemas.openxmlformats.org/drawingml/2006/main" xmlns:r="http://schemas.openxmlformats.org/officeDocument/2006/relationships" xmlns:p188="http://schemas.microsoft.com/office/powerpoint/2018/8/main">
  <p188:cm id="{42103725-F157-4E9B-BC4B-F5563DD8FDCD}" authorId="{C038A2B1-9995-D9CB-496B-7FF71F889279}" status="resolved" created="2025-05-07T18:17:58.892" complete="100000">
    <ac:deMkLst xmlns:ac="http://schemas.microsoft.com/office/drawing/2013/main/command">
      <pc:docMk xmlns:pc="http://schemas.microsoft.com/office/powerpoint/2013/main/command"/>
      <pc:sldMk xmlns:pc="http://schemas.microsoft.com/office/powerpoint/2013/main/command" cId="955587201" sldId="256"/>
      <ac:picMk id="6" creationId="{62426BB4-5B3B-27C5-7BBC-83D8CDBDA0E6}"/>
    </ac:deMkLst>
    <p188:txBody>
      <a:bodyPr/>
      <a:lstStyle/>
      <a:p>
        <a:r>
          <a:rPr lang="en-US"/>
          <a:t>This ppt was copied from the TenOne Insectoid analysis ppt as a template – check if this still applies</a:t>
        </a:r>
      </a:p>
    </p188:txBody>
  </p188:cm>
  <p188:cm id="{3561A135-0CC1-4686-910E-1C9C8256001F}" authorId="{C038A2B1-9995-D9CB-496B-7FF71F889279}" status="resolved" created="2025-05-08T00:07:03.846" complete="100000">
    <ac:txMkLst xmlns:ac="http://schemas.microsoft.com/office/drawing/2013/main/command">
      <pc:docMk xmlns:pc="http://schemas.microsoft.com/office/powerpoint/2013/main/command"/>
      <pc:sldMk xmlns:pc="http://schemas.microsoft.com/office/powerpoint/2013/main/command" cId="955587201" sldId="256"/>
      <ac:spMk id="4" creationId="{2B59E523-E029-4AF4-9ABE-63055C325F34}"/>
      <ac:txMk cp="50">
        <ac:context len="95" hash="4126922735"/>
      </ac:txMk>
    </ac:txMkLst>
    <p188:pos x="11117303" y="150925"/>
    <p188:txBody>
      <a:bodyPr/>
      <a:lstStyle/>
      <a:p>
        <a:r>
          <a:rPr lang="en-US"/>
          <a:t>+check naming conventions somewhere</a:t>
        </a:r>
      </a:p>
    </p188:txBody>
  </p188:cm>
</p188:cmLst>
</file>

<file path=ppt/comments/modernComment_102_B87A0C40.xml><?xml version="1.0" encoding="utf-8"?>
<p188:cmLst xmlns:a="http://schemas.openxmlformats.org/drawingml/2006/main" xmlns:r="http://schemas.openxmlformats.org/officeDocument/2006/relationships" xmlns:p188="http://schemas.microsoft.com/office/powerpoint/2018/8/main">
  <p188:cm id="{96F0ECB7-4AA9-4E0A-9EA5-F774DB0F566E}" authorId="{C038A2B1-9995-D9CB-496B-7FF71F889279}" created="2025-05-08T20:04:53.976">
    <ac:txMkLst xmlns:ac="http://schemas.microsoft.com/office/drawing/2013/main/command">
      <pc:docMk xmlns:pc="http://schemas.microsoft.com/office/powerpoint/2013/main/command"/>
      <pc:sldMk xmlns:pc="http://schemas.microsoft.com/office/powerpoint/2013/main/command" cId="3095006272" sldId="258"/>
      <ac:spMk id="2" creationId="{221DB1DA-2CC8-A84D-2981-DA2827485A95}"/>
      <ac:txMk cp="153" len="41">
        <ac:context len="589" hash="128196368"/>
      </ac:txMk>
    </ac:txMkLst>
    <p188:pos x="5685581" y="696909"/>
    <p188:replyLst>
      <p188:reply id="{AE2232B4-7456-4D42-879F-E96632C5B9DD}" authorId="{C038A2B1-9995-D9CB-496B-7FF71F889279}" created="2025-08-22T20:41:58.548">
        <p188:txBody>
          <a:bodyPr/>
          <a:lstStyle/>
          <a:p>
            <a:r>
              <a:rPr lang="en-US"/>
              <a:t>Reminder to put *updated V15* model in analysis drive</a:t>
            </a:r>
          </a:p>
        </p188:txBody>
      </p188:reply>
      <p188:reply id="{1746F7F2-85DF-4D38-9C10-3EDB229DD069}" authorId="{C038A2B1-9995-D9CB-496B-7FF71F889279}" created="2025-08-29T23:19:49.032">
        <p188:txBody>
          <a:bodyPr/>
          <a:lstStyle/>
          <a:p>
            <a:r>
              <a:rPr lang="en-US"/>
              <a:t>Reminder to put V17 model in drive</a:t>
            </a:r>
          </a:p>
        </p188:txBody>
      </p188:reply>
    </p188:replyLst>
    <p188:txBody>
      <a:bodyPr/>
      <a:lstStyle/>
      <a:p>
        <a:r>
          <a:rPr lang="en-US"/>
          <a:t>Reminder to self to put the model in the analysis drive once the server is reset / there is space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8A0509-3922-B4A7-8884-CF93278FA497}"/>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AF85396-6B23-14CE-4F50-2CF39950B21B}"/>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2570DB2C-3F8F-4BD3-804E-801DDE209956}" type="datetimeFigureOut">
              <a:rPr lang="en-US" smtClean="0"/>
              <a:t>10/6/2026</a:t>
            </a:fld>
            <a:endParaRPr lang="en-US"/>
          </a:p>
        </p:txBody>
      </p:sp>
      <p:sp>
        <p:nvSpPr>
          <p:cNvPr id="4" name="Footer Placeholder 3">
            <a:extLst>
              <a:ext uri="{FF2B5EF4-FFF2-40B4-BE49-F238E27FC236}">
                <a16:creationId xmlns:a16="http://schemas.microsoft.com/office/drawing/2014/main" id="{BE0CE350-5BFF-3A98-CBAA-C0C8958541A0}"/>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C0B45D7-49A7-DEE7-8025-F8B85B34F943}"/>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AE91A9A1-09D5-43FF-A26B-C455906D6CF6}" type="slidenum">
              <a:rPr lang="en-US" smtClean="0"/>
              <a:t>‹#›</a:t>
            </a:fld>
            <a:endParaRPr lang="en-US"/>
          </a:p>
        </p:txBody>
      </p:sp>
    </p:spTree>
    <p:extLst>
      <p:ext uri="{BB962C8B-B14F-4D97-AF65-F5344CB8AC3E}">
        <p14:creationId xmlns:p14="http://schemas.microsoft.com/office/powerpoint/2010/main" val="2790166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1487325A-57CF-4B23-82DC-86E88B7D453C}" type="datetimeFigureOut">
              <a:rPr lang="en-US" smtClean="0"/>
              <a:t>10/6/2026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06BDA549-C8FC-47E1-B2FE-CEDBD469CEF6}" type="slidenum">
              <a:rPr lang="en-US" smtClean="0"/>
              <a:t>‹#›</a:t>
            </a:fld>
            <a:endParaRPr lang="en-US"/>
          </a:p>
        </p:txBody>
      </p:sp>
    </p:spTree>
    <p:extLst>
      <p:ext uri="{BB962C8B-B14F-4D97-AF65-F5344CB8AC3E}">
        <p14:creationId xmlns:p14="http://schemas.microsoft.com/office/powerpoint/2010/main" val="3086190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FFFFFF">
            <a:alpha val="18039"/>
          </a:srgb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043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3F489-F236-4A56-A03F-6052A6640734}"/>
              </a:ext>
            </a:extLst>
          </p:cNvPr>
          <p:cNvSpPr>
            <a:spLocks noGrp="1"/>
          </p:cNvSpPr>
          <p:nvPr>
            <p:ph type="title" hasCustomPrompt="1"/>
          </p:nvPr>
        </p:nvSpPr>
        <p:spPr/>
        <p:txBody>
          <a:bodyPr>
            <a:normAutofit/>
          </a:bodyPr>
          <a:lstStyle>
            <a:lvl1pPr>
              <a:defRPr sz="3200">
                <a:latin typeface="Eras Medium ITC" panose="020B0602030504020804" pitchFamily="34" charset="0"/>
              </a:defRPr>
            </a:lvl1pPr>
          </a:lstStyle>
          <a:p>
            <a:r>
              <a:rPr lang="en-US"/>
              <a:t>Slide Title</a:t>
            </a:r>
          </a:p>
        </p:txBody>
      </p:sp>
      <p:sp>
        <p:nvSpPr>
          <p:cNvPr id="3" name="Date Placeholder 2">
            <a:extLst>
              <a:ext uri="{FF2B5EF4-FFF2-40B4-BE49-F238E27FC236}">
                <a16:creationId xmlns:a16="http://schemas.microsoft.com/office/drawing/2014/main" id="{9A172FC3-E44B-40C8-B271-E4B5A475AEA0}"/>
              </a:ext>
            </a:extLst>
          </p:cNvPr>
          <p:cNvSpPr>
            <a:spLocks noGrp="1"/>
          </p:cNvSpPr>
          <p:nvPr>
            <p:ph type="dt" sz="half" idx="10"/>
          </p:nvPr>
        </p:nvSpPr>
        <p:spPr>
          <a:xfrm>
            <a:off x="150079" y="6378575"/>
            <a:ext cx="2743200" cy="365125"/>
          </a:xfrm>
          <a:prstGeom prst="rect">
            <a:avLst/>
          </a:prstGeom>
        </p:spPr>
        <p:txBody>
          <a:bodyPr/>
          <a:lstStyle>
            <a:lvl1pPr>
              <a:defRPr>
                <a:latin typeface="+mj-lt"/>
              </a:defRPr>
            </a:lvl1pPr>
          </a:lstStyle>
          <a:p>
            <a:fld id="{AA20E513-70EF-470A-A4F7-7F9CCA1CB087}" type="datetimeFigureOut">
              <a:rPr lang="de-DE" smtClean="0"/>
              <a:pPr/>
              <a:t>06.10.2026</a:t>
            </a:fld>
            <a:endParaRPr lang="de-DE"/>
          </a:p>
        </p:txBody>
      </p:sp>
      <p:sp>
        <p:nvSpPr>
          <p:cNvPr id="4" name="Footer Placeholder 3">
            <a:extLst>
              <a:ext uri="{FF2B5EF4-FFF2-40B4-BE49-F238E27FC236}">
                <a16:creationId xmlns:a16="http://schemas.microsoft.com/office/drawing/2014/main" id="{CF3269D5-1A80-4453-9D04-430D5D21422B}"/>
              </a:ext>
            </a:extLst>
          </p:cNvPr>
          <p:cNvSpPr>
            <a:spLocks noGrp="1"/>
          </p:cNvSpPr>
          <p:nvPr>
            <p:ph type="ftr" sz="quarter" idx="11"/>
          </p:nvPr>
        </p:nvSpPr>
        <p:spPr>
          <a:xfrm>
            <a:off x="4038600" y="6378575"/>
            <a:ext cx="4114800" cy="365125"/>
          </a:xfrm>
          <a:prstGeom prst="rect">
            <a:avLst/>
          </a:prstGeom>
        </p:spPr>
        <p:txBody>
          <a:bodyPr/>
          <a:lstStyle>
            <a:lvl1pPr algn="ctr">
              <a:defRPr>
                <a:latin typeface="+mj-lt"/>
              </a:defRPr>
            </a:lvl1pPr>
          </a:lstStyle>
          <a:p>
            <a:endParaRPr lang="de-DE"/>
          </a:p>
        </p:txBody>
      </p:sp>
      <p:sp>
        <p:nvSpPr>
          <p:cNvPr id="5" name="Slide Number Placeholder 4">
            <a:extLst>
              <a:ext uri="{FF2B5EF4-FFF2-40B4-BE49-F238E27FC236}">
                <a16:creationId xmlns:a16="http://schemas.microsoft.com/office/drawing/2014/main" id="{59C621EA-270C-452D-BB65-B56E7A5BDC19}"/>
              </a:ext>
            </a:extLst>
          </p:cNvPr>
          <p:cNvSpPr>
            <a:spLocks noGrp="1"/>
          </p:cNvSpPr>
          <p:nvPr>
            <p:ph type="sldNum" sz="quarter" idx="12"/>
          </p:nvPr>
        </p:nvSpPr>
        <p:spPr>
          <a:xfrm>
            <a:off x="9543792" y="6378575"/>
            <a:ext cx="2506543" cy="365125"/>
          </a:xfrm>
          <a:prstGeom prst="rect">
            <a:avLst/>
          </a:prstGeom>
        </p:spPr>
        <p:txBody>
          <a:bodyPr/>
          <a:lstStyle>
            <a:lvl1pPr algn="r">
              <a:defRPr>
                <a:latin typeface="+mj-lt"/>
              </a:defRPr>
            </a:lvl1pPr>
          </a:lstStyle>
          <a:p>
            <a:fld id="{8775FF88-D48D-4EBF-B4BE-754F63DF0919}" type="slidenum">
              <a:rPr lang="de-DE" smtClean="0"/>
              <a:pPr/>
              <a:t>‹#›</a:t>
            </a:fld>
            <a:endParaRPr lang="de-DE"/>
          </a:p>
        </p:txBody>
      </p:sp>
      <p:sp>
        <p:nvSpPr>
          <p:cNvPr id="9" name="Content Placeholder 8">
            <a:extLst>
              <a:ext uri="{FF2B5EF4-FFF2-40B4-BE49-F238E27FC236}">
                <a16:creationId xmlns:a16="http://schemas.microsoft.com/office/drawing/2014/main" id="{3C4FA725-885D-4B47-8A38-CF8C17D4B3BE}"/>
              </a:ext>
            </a:extLst>
          </p:cNvPr>
          <p:cNvSpPr>
            <a:spLocks noGrp="1"/>
          </p:cNvSpPr>
          <p:nvPr>
            <p:ph sz="quarter" idx="13" hasCustomPrompt="1"/>
          </p:nvPr>
        </p:nvSpPr>
        <p:spPr>
          <a:xfrm>
            <a:off x="273480" y="1430930"/>
            <a:ext cx="11645039" cy="4725772"/>
          </a:xfrm>
          <a:prstGeom prst="rect">
            <a:avLst/>
          </a:prstGeom>
        </p:spPr>
        <p:txBody>
          <a:bodyPr/>
          <a:lstStyle>
            <a:lvl1pPr marL="0" indent="0">
              <a:buNone/>
              <a:defRPr sz="3200" b="1" i="0">
                <a:solidFill>
                  <a:schemeClr val="accent1">
                    <a:lumMod val="75000"/>
                  </a:schemeClr>
                </a:solidFill>
                <a:latin typeface="Eras Medium ITC" panose="020B0602030504020804" pitchFamily="34" charset="0"/>
              </a:defRPr>
            </a:lvl1pPr>
            <a:lvl2pPr marL="685800" indent="-228600">
              <a:buFont typeface="Wingdings" panose="05000000000000000000" pitchFamily="2" charset="2"/>
              <a:buChar char="§"/>
              <a:defRPr sz="2000"/>
            </a:lvl2pPr>
            <a:lvl4pPr marL="1371600" indent="0">
              <a:buNone/>
              <a:defRPr sz="2000"/>
            </a:lvl4pPr>
            <a:lvl5pPr marL="1828800" indent="0">
              <a:buNone/>
              <a:defRPr sz="2000"/>
            </a:lvl5pPr>
          </a:lstStyle>
          <a:p>
            <a:pPr lvl="0"/>
            <a:r>
              <a:rPr kumimoji="0" lang="en-US" sz="3200" b="1" i="0" u="none" strike="noStrike" kern="1200" cap="none" spc="0" normalizeH="0" baseline="0" noProof="0">
                <a:ln>
                  <a:noFill/>
                </a:ln>
                <a:solidFill>
                  <a:srgbClr val="4472C4">
                    <a:lumMod val="75000"/>
                  </a:srgbClr>
                </a:solidFill>
                <a:effectLst/>
                <a:uLnTx/>
                <a:uFillTx/>
                <a:latin typeface="Eras Medium ITC" panose="020B0602030504020804" pitchFamily="34" charset="0"/>
                <a:ea typeface="+mn-ea"/>
                <a:cs typeface="+mn-cs"/>
              </a:rPr>
              <a:t>Recommended Subheading Color &amp; Font if Used</a:t>
            </a:r>
            <a:endParaRPr lang="en-US"/>
          </a:p>
          <a:p>
            <a:pPr lvl="1"/>
            <a:r>
              <a:rPr lang="en-US" sz="2000">
                <a:solidFill>
                  <a:srgbClr val="222222"/>
                </a:solidFill>
              </a:rPr>
              <a:t>Bullet or number style at user’s discretion. Recommended font as shown.</a:t>
            </a:r>
            <a:endParaRPr lang="en-US"/>
          </a:p>
        </p:txBody>
      </p:sp>
    </p:spTree>
    <p:extLst>
      <p:ext uri="{BB962C8B-B14F-4D97-AF65-F5344CB8AC3E}">
        <p14:creationId xmlns:p14="http://schemas.microsoft.com/office/powerpoint/2010/main" val="1932672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rgbClr val="FFFFFF">
            <a:alpha val="18039"/>
          </a:srgbClr>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CE9C560-99F1-5348-C51A-CE4C4393A310}"/>
              </a:ext>
            </a:extLst>
          </p:cNvPr>
          <p:cNvSpPr>
            <a:spLocks noGrp="1"/>
          </p:cNvSpPr>
          <p:nvPr>
            <p:ph type="title" idx="4294967295" hasCustomPrompt="1"/>
          </p:nvPr>
        </p:nvSpPr>
        <p:spPr>
          <a:xfrm>
            <a:off x="222140" y="3016739"/>
            <a:ext cx="11747715" cy="824522"/>
          </a:xfrm>
          <a:prstGeom prst="rect">
            <a:avLst/>
          </a:prstGeom>
        </p:spPr>
        <p:txBody>
          <a:bodyPr anchor="t">
            <a:noAutofit/>
          </a:bodyPr>
          <a:lstStyle>
            <a:lvl1pPr>
              <a:defRPr/>
            </a:lvl1pPr>
          </a:lstStyle>
          <a:p>
            <a:r>
              <a:rPr lang="en-US" b="1">
                <a:latin typeface="Eras Medium ITC" panose="020B0602030504020804" pitchFamily="34" charset="0"/>
              </a:rPr>
              <a:t>Section Title</a:t>
            </a:r>
          </a:p>
        </p:txBody>
      </p:sp>
    </p:spTree>
    <p:extLst>
      <p:ext uri="{BB962C8B-B14F-4D97-AF65-F5344CB8AC3E}">
        <p14:creationId xmlns:p14="http://schemas.microsoft.com/office/powerpoint/2010/main" val="30218959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3-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3F489-F236-4A56-A03F-6052A6640734}"/>
              </a:ext>
            </a:extLst>
          </p:cNvPr>
          <p:cNvSpPr>
            <a:spLocks noGrp="1"/>
          </p:cNvSpPr>
          <p:nvPr>
            <p:ph type="title" hasCustomPrompt="1"/>
          </p:nvPr>
        </p:nvSpPr>
        <p:spPr/>
        <p:txBody>
          <a:bodyPr>
            <a:normAutofit/>
          </a:bodyPr>
          <a:lstStyle>
            <a:lvl1pPr>
              <a:defRPr sz="3200">
                <a:latin typeface="Eras Medium ITC" panose="020B0602030504020804" pitchFamily="34" charset="0"/>
              </a:defRPr>
            </a:lvl1pPr>
          </a:lstStyle>
          <a:p>
            <a:r>
              <a:rPr lang="en-US"/>
              <a:t>Slide Title</a:t>
            </a:r>
          </a:p>
        </p:txBody>
      </p:sp>
      <p:sp>
        <p:nvSpPr>
          <p:cNvPr id="6" name="Text Placeholder 2">
            <a:extLst>
              <a:ext uri="{FF2B5EF4-FFF2-40B4-BE49-F238E27FC236}">
                <a16:creationId xmlns:a16="http://schemas.microsoft.com/office/drawing/2014/main" id="{3D8832F4-DB2E-7F45-40DA-AD79CA2B0EE3}"/>
              </a:ext>
            </a:extLst>
          </p:cNvPr>
          <p:cNvSpPr>
            <a:spLocks noGrp="1"/>
          </p:cNvSpPr>
          <p:nvPr>
            <p:ph idx="1"/>
          </p:nvPr>
        </p:nvSpPr>
        <p:spPr>
          <a:xfrm>
            <a:off x="273480" y="2039693"/>
            <a:ext cx="3749040" cy="4351338"/>
          </a:xfrm>
          <a:prstGeom prst="rect">
            <a:avLst/>
          </a:prstGeom>
        </p:spPr>
        <p:txBody>
          <a:bodyPr vert="horz" lIns="91440" tIns="45720" rIns="91440" bIns="45720" rtlCol="0">
            <a:normAutofit/>
          </a:bodyPr>
          <a:lstStyle>
            <a:lvl1pPr marL="285750" indent="-285750">
              <a:buFont typeface="Wingdings" panose="05000000000000000000" pitchFamily="2" charset="2"/>
              <a:buChar char="§"/>
              <a:defRPr sz="2000">
                <a:latin typeface="+mj-lt"/>
              </a:defRPr>
            </a:lvl1pPr>
            <a:lvl2pPr marL="742950" indent="-285750">
              <a:buFont typeface="Wingdings" panose="05000000000000000000" pitchFamily="2" charset="2"/>
              <a:buChar char="§"/>
              <a:defRPr sz="1800">
                <a:latin typeface="+mj-lt"/>
              </a:defRPr>
            </a:lvl2pPr>
            <a:lvl3pPr marL="1200150" indent="-285750">
              <a:buFont typeface="Wingdings" panose="05000000000000000000" pitchFamily="2" charset="2"/>
              <a:buChar char="§"/>
              <a:defRPr sz="1600">
                <a:latin typeface="+mj-lt"/>
              </a:defRPr>
            </a:lvl3pPr>
            <a:lvl4pPr marL="1657350" indent="-285750">
              <a:buFont typeface="Wingdings" panose="05000000000000000000" pitchFamily="2" charset="2"/>
              <a:buChar char="§"/>
              <a:defRPr sz="1400">
                <a:latin typeface="+mj-lt"/>
              </a:defRPr>
            </a:lvl4pPr>
            <a:lvl5pPr marL="2114550" indent="-285750">
              <a:buFont typeface="Wingdings" panose="05000000000000000000" pitchFamily="2" charset="2"/>
              <a:buChar char="§"/>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C05C0139-16F8-1C8D-EB87-EB11406A5BF8}"/>
              </a:ext>
            </a:extLst>
          </p:cNvPr>
          <p:cNvSpPr>
            <a:spLocks noGrp="1"/>
          </p:cNvSpPr>
          <p:nvPr>
            <p:ph idx="14"/>
          </p:nvPr>
        </p:nvSpPr>
        <p:spPr>
          <a:xfrm>
            <a:off x="8169479" y="2037226"/>
            <a:ext cx="3749040" cy="4351338"/>
          </a:xfrm>
          <a:prstGeom prst="rect">
            <a:avLst/>
          </a:prstGeom>
        </p:spPr>
        <p:txBody>
          <a:bodyPr vert="horz" lIns="91440" tIns="45720" rIns="91440" bIns="45720" rtlCol="0">
            <a:normAutofit/>
          </a:bodyPr>
          <a:lstStyle>
            <a:lvl1pPr marL="285750" indent="-285750">
              <a:buFont typeface="Wingdings" panose="05000000000000000000" pitchFamily="2" charset="2"/>
              <a:buChar char="§"/>
              <a:defRPr sz="2000">
                <a:latin typeface="+mj-lt"/>
              </a:defRPr>
            </a:lvl1pPr>
            <a:lvl2pPr marL="742950" indent="-285750">
              <a:buFont typeface="Wingdings" panose="05000000000000000000" pitchFamily="2" charset="2"/>
              <a:buChar char="§"/>
              <a:defRPr sz="1800">
                <a:latin typeface="+mj-lt"/>
              </a:defRPr>
            </a:lvl2pPr>
            <a:lvl3pPr marL="1200150" indent="-285750">
              <a:buFont typeface="Wingdings" panose="05000000000000000000" pitchFamily="2" charset="2"/>
              <a:buChar char="§"/>
              <a:defRPr sz="1600">
                <a:latin typeface="+mj-lt"/>
              </a:defRPr>
            </a:lvl3pPr>
            <a:lvl4pPr marL="1657350" indent="-285750">
              <a:buFont typeface="Wingdings" panose="05000000000000000000" pitchFamily="2" charset="2"/>
              <a:buChar char="§"/>
              <a:defRPr sz="1400">
                <a:latin typeface="+mj-lt"/>
              </a:defRPr>
            </a:lvl4pPr>
            <a:lvl5pPr marL="2114550" indent="-285750">
              <a:buFont typeface="Wingdings" panose="05000000000000000000" pitchFamily="2" charset="2"/>
              <a:buChar char="§"/>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BC593355-8B7D-E6A1-5F24-00CB9CE5A97A}"/>
              </a:ext>
            </a:extLst>
          </p:cNvPr>
          <p:cNvSpPr>
            <a:spLocks noGrp="1"/>
          </p:cNvSpPr>
          <p:nvPr>
            <p:ph idx="15"/>
          </p:nvPr>
        </p:nvSpPr>
        <p:spPr>
          <a:xfrm>
            <a:off x="4221479" y="2037226"/>
            <a:ext cx="3749040" cy="4351338"/>
          </a:xfrm>
          <a:prstGeom prst="rect">
            <a:avLst/>
          </a:prstGeom>
        </p:spPr>
        <p:txBody>
          <a:bodyPr vert="horz" lIns="91440" tIns="45720" rIns="91440" bIns="45720" rtlCol="0">
            <a:normAutofit/>
          </a:bodyPr>
          <a:lstStyle>
            <a:lvl1pPr marL="285750" indent="-285750">
              <a:buFont typeface="Wingdings" panose="05000000000000000000" pitchFamily="2" charset="2"/>
              <a:buChar char="§"/>
              <a:defRPr sz="2000">
                <a:latin typeface="+mj-lt"/>
              </a:defRPr>
            </a:lvl1pPr>
            <a:lvl2pPr marL="742950" indent="-285750">
              <a:buFont typeface="Wingdings" panose="05000000000000000000" pitchFamily="2" charset="2"/>
              <a:buChar char="§"/>
              <a:defRPr sz="1800">
                <a:latin typeface="+mj-lt"/>
              </a:defRPr>
            </a:lvl2pPr>
            <a:lvl3pPr marL="1200150" indent="-285750">
              <a:buFont typeface="Wingdings" panose="05000000000000000000" pitchFamily="2" charset="2"/>
              <a:buChar char="§"/>
              <a:defRPr sz="1600">
                <a:latin typeface="+mj-lt"/>
              </a:defRPr>
            </a:lvl3pPr>
            <a:lvl4pPr marL="1657350" indent="-285750">
              <a:buFont typeface="Wingdings" panose="05000000000000000000" pitchFamily="2" charset="2"/>
              <a:buChar char="§"/>
              <a:defRPr sz="1400">
                <a:latin typeface="+mj-lt"/>
              </a:defRPr>
            </a:lvl4pPr>
            <a:lvl5pPr marL="2114550" indent="-285750">
              <a:buFont typeface="Wingdings" panose="05000000000000000000" pitchFamily="2" charset="2"/>
              <a:buChar char="§"/>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1630DA0-94F7-78B8-0D9D-CB13370ECF03}"/>
              </a:ext>
            </a:extLst>
          </p:cNvPr>
          <p:cNvSpPr>
            <a:spLocks noGrp="1"/>
          </p:cNvSpPr>
          <p:nvPr>
            <p:ph type="dt" sz="half" idx="16"/>
          </p:nvPr>
        </p:nvSpPr>
        <p:spPr/>
        <p:txBody>
          <a:bodyPr/>
          <a:lstStyle/>
          <a:p>
            <a:fld id="{002369FF-696E-4C25-BA6D-3B92CDB3C44E}" type="datetime1">
              <a:rPr lang="en-US" smtClean="0"/>
              <a:pPr/>
              <a:t>10/6/2026</a:t>
            </a:fld>
            <a:endParaRPr lang="de-DE"/>
          </a:p>
        </p:txBody>
      </p:sp>
      <p:sp>
        <p:nvSpPr>
          <p:cNvPr id="10" name="Footer Placeholder 9">
            <a:extLst>
              <a:ext uri="{FF2B5EF4-FFF2-40B4-BE49-F238E27FC236}">
                <a16:creationId xmlns:a16="http://schemas.microsoft.com/office/drawing/2014/main" id="{BC077D32-AF07-9CF6-96EC-957616AAEF6A}"/>
              </a:ext>
            </a:extLst>
          </p:cNvPr>
          <p:cNvSpPr>
            <a:spLocks noGrp="1"/>
          </p:cNvSpPr>
          <p:nvPr>
            <p:ph type="ftr" sz="quarter" idx="17"/>
          </p:nvPr>
        </p:nvSpPr>
        <p:spPr/>
        <p:txBody>
          <a:bodyPr/>
          <a:lstStyle/>
          <a:p>
            <a:r>
              <a:rPr lang="en-US"/>
              <a:t>Use or disclosure of data contained on this page is subject to the restriction on the first page of this volume</a:t>
            </a:r>
            <a:endParaRPr lang="de-DE"/>
          </a:p>
        </p:txBody>
      </p:sp>
      <p:sp>
        <p:nvSpPr>
          <p:cNvPr id="11" name="Slide Number Placeholder 10">
            <a:extLst>
              <a:ext uri="{FF2B5EF4-FFF2-40B4-BE49-F238E27FC236}">
                <a16:creationId xmlns:a16="http://schemas.microsoft.com/office/drawing/2014/main" id="{42E72FBB-BB87-B1C6-AD4B-16EF58874552}"/>
              </a:ext>
            </a:extLst>
          </p:cNvPr>
          <p:cNvSpPr>
            <a:spLocks noGrp="1"/>
          </p:cNvSpPr>
          <p:nvPr>
            <p:ph type="sldNum" sz="quarter" idx="18"/>
          </p:nvPr>
        </p:nvSpPr>
        <p:spPr/>
        <p:txBody>
          <a:bodyPr/>
          <a:lstStyle/>
          <a:p>
            <a:r>
              <a:rPr lang="en-US"/>
              <a:t>© 2024 Turion Space Corp. All Rights Reserved. | </a:t>
            </a:r>
            <a:fld id="{8775FF88-D48D-4EBF-B4BE-754F63DF0919}" type="slidenum">
              <a:rPr lang="de-DE" smtClean="0"/>
              <a:pPr/>
              <a:t>‹#›</a:t>
            </a:fld>
            <a:endParaRPr lang="de-DE"/>
          </a:p>
        </p:txBody>
      </p:sp>
      <p:sp>
        <p:nvSpPr>
          <p:cNvPr id="13" name="Text Placeholder 15">
            <a:extLst>
              <a:ext uri="{FF2B5EF4-FFF2-40B4-BE49-F238E27FC236}">
                <a16:creationId xmlns:a16="http://schemas.microsoft.com/office/drawing/2014/main" id="{97ABD6D4-A409-201F-2C6F-B6114E6063F5}"/>
              </a:ext>
            </a:extLst>
          </p:cNvPr>
          <p:cNvSpPr>
            <a:spLocks noGrp="1"/>
          </p:cNvSpPr>
          <p:nvPr>
            <p:ph type="body" sz="quarter" idx="19" hasCustomPrompt="1"/>
          </p:nvPr>
        </p:nvSpPr>
        <p:spPr>
          <a:xfrm>
            <a:off x="273481" y="1430929"/>
            <a:ext cx="11645037" cy="491655"/>
          </a:xfrm>
          <a:prstGeom prst="rect">
            <a:avLst/>
          </a:prstGeom>
        </p:spPr>
        <p:txBody>
          <a:bodyPr/>
          <a:lstStyle>
            <a:lvl1pPr marL="0" indent="0">
              <a:buNone/>
              <a:defRPr>
                <a:solidFill>
                  <a:schemeClr val="accent1">
                    <a:lumMod val="75000"/>
                  </a:schemeClr>
                </a:solidFill>
              </a:defRPr>
            </a:lvl1pPr>
          </a:lstStyle>
          <a:p>
            <a:pPr lvl="0"/>
            <a:r>
              <a:rPr kumimoji="0" lang="en-US" sz="3200" b="1" i="0" u="none" strike="noStrike" kern="1200" cap="none" spc="0" normalizeH="0" baseline="0" noProof="0">
                <a:ln>
                  <a:noFill/>
                </a:ln>
                <a:solidFill>
                  <a:srgbClr val="4472C4">
                    <a:lumMod val="75000"/>
                  </a:srgbClr>
                </a:solidFill>
                <a:effectLst/>
                <a:uLnTx/>
                <a:uFillTx/>
                <a:latin typeface="Eras Medium ITC" panose="020B0602030504020804" pitchFamily="34" charset="0"/>
                <a:ea typeface="+mn-ea"/>
                <a:cs typeface="+mn-cs"/>
              </a:rPr>
              <a:t>Recommended Subheading Color &amp; Font if Used</a:t>
            </a:r>
            <a:endParaRPr lang="en-US"/>
          </a:p>
        </p:txBody>
      </p:sp>
    </p:spTree>
    <p:extLst>
      <p:ext uri="{BB962C8B-B14F-4D97-AF65-F5344CB8AC3E}">
        <p14:creationId xmlns:p14="http://schemas.microsoft.com/office/powerpoint/2010/main" val="1022692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7B499F5E-67BF-A5FA-C6C5-5613788F2AF4}"/>
              </a:ext>
            </a:extLst>
          </p:cNvPr>
          <p:cNvSpPr>
            <a:spLocks noGrp="1"/>
          </p:cNvSpPr>
          <p:nvPr>
            <p:ph idx="1"/>
          </p:nvPr>
        </p:nvSpPr>
        <p:spPr>
          <a:xfrm>
            <a:off x="273480" y="1430930"/>
            <a:ext cx="11645038" cy="4960101"/>
          </a:xfrm>
          <a:prstGeom prst="rect">
            <a:avLst/>
          </a:prstGeom>
        </p:spPr>
        <p:txBody>
          <a:bodyPr vert="horz" lIns="91440" tIns="45720" rIns="91440" bIns="45720" rtlCol="0">
            <a:normAutofit/>
          </a:bodyPr>
          <a:lstStyle>
            <a:lvl1pPr marL="285750" indent="-285750">
              <a:buFont typeface="Wingdings" panose="05000000000000000000" pitchFamily="2" charset="2"/>
              <a:buChar char="§"/>
              <a:defRPr sz="2000">
                <a:latin typeface="+mj-lt"/>
              </a:defRPr>
            </a:lvl1pPr>
            <a:lvl2pPr marL="742950" indent="-285750">
              <a:buFont typeface="Wingdings" panose="05000000000000000000" pitchFamily="2" charset="2"/>
              <a:buChar char="§"/>
              <a:defRPr sz="1800">
                <a:latin typeface="+mj-lt"/>
              </a:defRPr>
            </a:lvl2pPr>
            <a:lvl3pPr marL="1200150" indent="-285750">
              <a:buFont typeface="Wingdings" panose="05000000000000000000" pitchFamily="2" charset="2"/>
              <a:buChar char="§"/>
              <a:defRPr sz="1600">
                <a:latin typeface="+mj-lt"/>
              </a:defRPr>
            </a:lvl3pPr>
            <a:lvl4pPr marL="1657350" indent="-285750">
              <a:buFont typeface="Wingdings" panose="05000000000000000000" pitchFamily="2" charset="2"/>
              <a:buChar char="§"/>
              <a:defRPr sz="1400">
                <a:latin typeface="+mj-lt"/>
              </a:defRPr>
            </a:lvl4pPr>
            <a:lvl5pPr marL="2114550" indent="-285750">
              <a:buFont typeface="Wingdings" panose="05000000000000000000" pitchFamily="2" charset="2"/>
              <a:buChar char="§"/>
              <a:defRPr sz="14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1C3F489-F236-4A56-A03F-6052A6640734}"/>
              </a:ext>
            </a:extLst>
          </p:cNvPr>
          <p:cNvSpPr>
            <a:spLocks noGrp="1"/>
          </p:cNvSpPr>
          <p:nvPr>
            <p:ph type="title" hasCustomPrompt="1"/>
          </p:nvPr>
        </p:nvSpPr>
        <p:spPr/>
        <p:txBody>
          <a:bodyPr>
            <a:normAutofit/>
          </a:bodyPr>
          <a:lstStyle>
            <a:lvl1pPr>
              <a:defRPr sz="3200">
                <a:latin typeface="Eras Medium ITC" panose="020B0602030504020804" pitchFamily="34" charset="0"/>
              </a:defRPr>
            </a:lvl1pPr>
          </a:lstStyle>
          <a:p>
            <a:r>
              <a:rPr lang="en-US"/>
              <a:t>Slide Title</a:t>
            </a:r>
          </a:p>
        </p:txBody>
      </p:sp>
      <p:sp>
        <p:nvSpPr>
          <p:cNvPr id="7" name="Date Placeholder 6">
            <a:extLst>
              <a:ext uri="{FF2B5EF4-FFF2-40B4-BE49-F238E27FC236}">
                <a16:creationId xmlns:a16="http://schemas.microsoft.com/office/drawing/2014/main" id="{BA627295-5748-EF03-C72F-2D95D4D30658}"/>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8" name="Footer Placeholder 7">
            <a:extLst>
              <a:ext uri="{FF2B5EF4-FFF2-40B4-BE49-F238E27FC236}">
                <a16:creationId xmlns:a16="http://schemas.microsoft.com/office/drawing/2014/main" id="{4A272C3D-90FB-546D-6348-4FC38457DB36}"/>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10" name="Slide Number Placeholder 9">
            <a:extLst>
              <a:ext uri="{FF2B5EF4-FFF2-40B4-BE49-F238E27FC236}">
                <a16:creationId xmlns:a16="http://schemas.microsoft.com/office/drawing/2014/main" id="{21FBF93B-451E-8784-69F4-76756223EB00}"/>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a:t>
            </a:fld>
            <a:endParaRPr lang="de-DE"/>
          </a:p>
        </p:txBody>
      </p:sp>
    </p:spTree>
    <p:extLst>
      <p:ext uri="{BB962C8B-B14F-4D97-AF65-F5344CB8AC3E}">
        <p14:creationId xmlns:p14="http://schemas.microsoft.com/office/powerpoint/2010/main" val="1932672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ection Title">
    <p:bg>
      <p:bgPr>
        <a:solidFill>
          <a:srgbClr val="FFFFFF">
            <a:alpha val="18039"/>
          </a:srgbClr>
        </a:solidFill>
        <a:effectLst/>
      </p:bgPr>
    </p:bg>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CE9C560-99F1-5348-C51A-CE4C4393A310}"/>
              </a:ext>
            </a:extLst>
          </p:cNvPr>
          <p:cNvSpPr>
            <a:spLocks noGrp="1"/>
          </p:cNvSpPr>
          <p:nvPr>
            <p:ph type="title" idx="4294967295" hasCustomPrompt="1"/>
          </p:nvPr>
        </p:nvSpPr>
        <p:spPr>
          <a:xfrm>
            <a:off x="222140" y="3016739"/>
            <a:ext cx="11747715" cy="824522"/>
          </a:xfrm>
          <a:prstGeom prst="rect">
            <a:avLst/>
          </a:prstGeom>
        </p:spPr>
        <p:txBody>
          <a:bodyPr anchor="t">
            <a:noAutofit/>
          </a:bodyPr>
          <a:lstStyle>
            <a:lvl1pPr>
              <a:defRPr/>
            </a:lvl1pPr>
          </a:lstStyle>
          <a:p>
            <a:r>
              <a:rPr lang="en-US" b="1">
                <a:latin typeface="Eras Medium ITC" panose="020B0602030504020804" pitchFamily="34" charset="0"/>
              </a:rPr>
              <a:t>Section Title</a:t>
            </a:r>
          </a:p>
        </p:txBody>
      </p:sp>
    </p:spTree>
    <p:extLst>
      <p:ext uri="{BB962C8B-B14F-4D97-AF65-F5344CB8AC3E}">
        <p14:creationId xmlns:p14="http://schemas.microsoft.com/office/powerpoint/2010/main" val="6919977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11">
            <a:extLst>
              <a:ext uri="{FF2B5EF4-FFF2-40B4-BE49-F238E27FC236}">
                <a16:creationId xmlns:a16="http://schemas.microsoft.com/office/drawing/2014/main" id="{AC44EFF4-A1E2-43E6-8B4D-C8670FDAA24B}"/>
              </a:ext>
            </a:extLst>
          </p:cNvPr>
          <p:cNvCxnSpPr/>
          <p:nvPr/>
        </p:nvCxnSpPr>
        <p:spPr>
          <a:xfrm>
            <a:off x="914400" y="4956175"/>
            <a:ext cx="10363200" cy="0"/>
          </a:xfrm>
          <a:prstGeom prst="line">
            <a:avLst/>
          </a:prstGeom>
          <a:ln w="9525" cap="rnd">
            <a:solidFill>
              <a:schemeClr val="bg1"/>
            </a:solidFill>
            <a:prstDash val="dot"/>
          </a:ln>
          <a:effectLst/>
        </p:spPr>
        <p:style>
          <a:lnRef idx="2">
            <a:schemeClr val="accent1"/>
          </a:lnRef>
          <a:fillRef idx="0">
            <a:schemeClr val="accent1"/>
          </a:fillRef>
          <a:effectRef idx="1">
            <a:schemeClr val="accent1"/>
          </a:effectRef>
          <a:fontRef idx="minor">
            <a:schemeClr val="tx1"/>
          </a:fontRef>
        </p:style>
      </p:cxnSp>
      <p:sp>
        <p:nvSpPr>
          <p:cNvPr id="8" name="Rectangle 15">
            <a:extLst>
              <a:ext uri="{FF2B5EF4-FFF2-40B4-BE49-F238E27FC236}">
                <a16:creationId xmlns:a16="http://schemas.microsoft.com/office/drawing/2014/main" id="{293437D1-3BF1-421B-8A88-440D1A1A7A37}"/>
              </a:ext>
            </a:extLst>
          </p:cNvPr>
          <p:cNvSpPr/>
          <p:nvPr/>
        </p:nvSpPr>
        <p:spPr>
          <a:xfrm>
            <a:off x="0" y="1642228"/>
            <a:ext cx="12192000" cy="109538"/>
          </a:xfrm>
          <a:prstGeom prst="rect">
            <a:avLst/>
          </a:prstGeom>
          <a:solidFill>
            <a:schemeClr val="accent1"/>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itle 1">
            <a:extLst>
              <a:ext uri="{FF2B5EF4-FFF2-40B4-BE49-F238E27FC236}">
                <a16:creationId xmlns:a16="http://schemas.microsoft.com/office/drawing/2014/main" id="{3C56BEE5-28A8-4472-B705-007306CAA288}"/>
              </a:ext>
            </a:extLst>
          </p:cNvPr>
          <p:cNvSpPr txBox="1">
            <a:spLocks/>
          </p:cNvSpPr>
          <p:nvPr/>
        </p:nvSpPr>
        <p:spPr>
          <a:xfrm>
            <a:off x="914400" y="4335610"/>
            <a:ext cx="10363200" cy="553998"/>
          </a:xfrm>
          <a:prstGeom prst="rect">
            <a:avLst/>
          </a:prstGeom>
        </p:spPr>
        <p:txBody>
          <a:bodyPr lIns="0" tIns="0" rIns="0" bIns="0" anchor="b" anchorCtr="0">
            <a:spAutoFit/>
          </a:bodyPr>
          <a:lstStyle>
            <a:lvl1pPr algn="l" defTabSz="914400" rtl="0" eaLnBrk="1" latinLnBrk="0" hangingPunct="1">
              <a:lnSpc>
                <a:spcPct val="90000"/>
              </a:lnSpc>
              <a:spcBef>
                <a:spcPct val="0"/>
              </a:spcBef>
              <a:buNone/>
              <a:defRPr sz="4000" kern="1200">
                <a:solidFill>
                  <a:schemeClr val="bg1"/>
                </a:solidFill>
                <a:latin typeface="Arial"/>
                <a:ea typeface="+mj-ea"/>
                <a:cs typeface="Arial"/>
              </a:defRPr>
            </a:lvl1pPr>
          </a:lstStyle>
          <a:p>
            <a:r>
              <a:rPr lang="en-US"/>
              <a:t>Click to edit Master title style</a:t>
            </a:r>
          </a:p>
        </p:txBody>
      </p:sp>
      <p:sp>
        <p:nvSpPr>
          <p:cNvPr id="10" name="Subtitle 2">
            <a:extLst>
              <a:ext uri="{FF2B5EF4-FFF2-40B4-BE49-F238E27FC236}">
                <a16:creationId xmlns:a16="http://schemas.microsoft.com/office/drawing/2014/main" id="{A3DE4CA6-75AC-45E8-BD08-1F9A36AF21F0}"/>
              </a:ext>
            </a:extLst>
          </p:cNvPr>
          <p:cNvSpPr txBox="1">
            <a:spLocks/>
          </p:cNvSpPr>
          <p:nvPr/>
        </p:nvSpPr>
        <p:spPr>
          <a:xfrm>
            <a:off x="914400" y="5055447"/>
            <a:ext cx="10363200" cy="286232"/>
          </a:xfrm>
          <a:prstGeom prst="rect">
            <a:avLst/>
          </a:prstGeom>
        </p:spPr>
        <p:txBody>
          <a:bodyPr wrap="square" lIns="0" rIns="0">
            <a:spAutoFit/>
          </a:bodyPr>
          <a:lstStyle>
            <a:lvl1pPr marL="0" indent="0" algn="l" defTabSz="914400" rtl="0" eaLnBrk="1" latinLnBrk="0" hangingPunct="1">
              <a:lnSpc>
                <a:spcPct val="90000"/>
              </a:lnSpc>
              <a:spcBef>
                <a:spcPts val="1000"/>
              </a:spcBef>
              <a:buFont typeface="Arial" panose="020B0604020202020204" pitchFamily="34" charset="0"/>
              <a:buNone/>
              <a:defRPr sz="1400" kern="1200" spc="30">
                <a:solidFill>
                  <a:schemeClr val="bg1"/>
                </a:solidFill>
                <a:latin typeface="Arial"/>
                <a:ea typeface="+mn-ea"/>
                <a:cs typeface="Arial"/>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a:t>Click to edit Master subtitle style</a:t>
            </a:r>
          </a:p>
        </p:txBody>
      </p:sp>
      <p:sp>
        <p:nvSpPr>
          <p:cNvPr id="23" name="TextBox 3">
            <a:extLst>
              <a:ext uri="{FF2B5EF4-FFF2-40B4-BE49-F238E27FC236}">
                <a16:creationId xmlns:a16="http://schemas.microsoft.com/office/drawing/2014/main" id="{841F1AD8-2589-4907-880B-3108BB8068FD}"/>
              </a:ext>
            </a:extLst>
          </p:cNvPr>
          <p:cNvSpPr txBox="1">
            <a:spLocks noChangeArrowheads="1"/>
          </p:cNvSpPr>
          <p:nvPr/>
        </p:nvSpPr>
        <p:spPr bwMode="auto">
          <a:xfrm>
            <a:off x="7128972" y="537395"/>
            <a:ext cx="4370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de-DE" sz="3200" i="0">
                <a:solidFill>
                  <a:schemeClr val="tx2"/>
                </a:solidFill>
                <a:latin typeface="Calibri Light" panose="020F0302020204030204" pitchFamily="34" charset="0"/>
                <a:cs typeface="Calibri Light" panose="020F0302020204030204" pitchFamily="34" charset="0"/>
              </a:rPr>
              <a:t>Turion Space Corporation </a:t>
            </a:r>
          </a:p>
        </p:txBody>
      </p:sp>
      <p:cxnSp>
        <p:nvCxnSpPr>
          <p:cNvPr id="26" name="Straight Connector 25">
            <a:extLst>
              <a:ext uri="{FF2B5EF4-FFF2-40B4-BE49-F238E27FC236}">
                <a16:creationId xmlns:a16="http://schemas.microsoft.com/office/drawing/2014/main" id="{6CEEC803-B7D0-418D-BC45-A26F66850092}"/>
              </a:ext>
            </a:extLst>
          </p:cNvPr>
          <p:cNvCxnSpPr>
            <a:cxnSpLocks/>
          </p:cNvCxnSpPr>
          <p:nvPr/>
        </p:nvCxnSpPr>
        <p:spPr>
          <a:xfrm>
            <a:off x="6093416" y="350015"/>
            <a:ext cx="0" cy="959536"/>
          </a:xfrm>
          <a:prstGeom prst="line">
            <a:avLst/>
          </a:prstGeom>
          <a:ln w="3175" cmpd="sng"/>
          <a:effectLst/>
        </p:spPr>
        <p:style>
          <a:lnRef idx="2">
            <a:schemeClr val="accent1"/>
          </a:lnRef>
          <a:fillRef idx="0">
            <a:schemeClr val="accent1"/>
          </a:fillRef>
          <a:effectRef idx="1">
            <a:schemeClr val="accent1"/>
          </a:effectRef>
          <a:fontRef idx="minor">
            <a:schemeClr val="tx1"/>
          </a:fontRef>
        </p:style>
      </p:cxnSp>
      <p:pic>
        <p:nvPicPr>
          <p:cNvPr id="3" name="Picture 2" descr="Logo&#10;&#10;Description automatically generated">
            <a:extLst>
              <a:ext uri="{FF2B5EF4-FFF2-40B4-BE49-F238E27FC236}">
                <a16:creationId xmlns:a16="http://schemas.microsoft.com/office/drawing/2014/main" id="{6460B615-70F5-FC26-3B8E-C88B431709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0709" y="195898"/>
            <a:ext cx="3914634" cy="1175158"/>
          </a:xfrm>
          <a:prstGeom prst="rect">
            <a:avLst/>
          </a:prstGeom>
        </p:spPr>
      </p:pic>
    </p:spTree>
    <p:extLst>
      <p:ext uri="{BB962C8B-B14F-4D97-AF65-F5344CB8AC3E}">
        <p14:creationId xmlns:p14="http://schemas.microsoft.com/office/powerpoint/2010/main" val="2613641711"/>
      </p:ext>
    </p:extLst>
  </p:cSld>
  <p:clrMap bg1="lt1" tx1="dk1" bg2="lt2" tx2="dk2" accent1="accent1" accent2="accent2" accent3="accent3" accent4="accent4" accent5="accent5" accent6="accent6" hlink="hlink" folHlink="folHlink"/>
  <p:sldLayoutIdLst>
    <p:sldLayoutId id="2147483671" r:id="rId1"/>
  </p:sldLayoutIdLst>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11" name="Gerader Verbinder 15">
            <a:extLst>
              <a:ext uri="{FF2B5EF4-FFF2-40B4-BE49-F238E27FC236}">
                <a16:creationId xmlns:a16="http://schemas.microsoft.com/office/drawing/2014/main" id="{D511C9FF-70FE-4419-9F96-A11C2D14418C}"/>
              </a:ext>
            </a:extLst>
          </p:cNvPr>
          <p:cNvCxnSpPr/>
          <p:nvPr/>
        </p:nvCxnSpPr>
        <p:spPr>
          <a:xfrm>
            <a:off x="150079" y="1079500"/>
            <a:ext cx="11891844" cy="0"/>
          </a:xfrm>
          <a:prstGeom prst="line">
            <a:avLst/>
          </a:prstGeom>
          <a:ln w="19050">
            <a:solidFill>
              <a:srgbClr val="00468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D1B82B-C870-426E-A6FF-2EECF4C6DF2F}"/>
              </a:ext>
            </a:extLst>
          </p:cNvPr>
          <p:cNvSpPr>
            <a:spLocks noGrp="1"/>
          </p:cNvSpPr>
          <p:nvPr>
            <p:ph type="title"/>
          </p:nvPr>
        </p:nvSpPr>
        <p:spPr>
          <a:xfrm>
            <a:off x="1750981" y="126947"/>
            <a:ext cx="8770968" cy="952546"/>
          </a:xfrm>
          <a:prstGeom prst="rect">
            <a:avLst/>
          </a:prstGeom>
        </p:spPr>
        <p:txBody>
          <a:bodyPr vert="horz" lIns="91440" tIns="45720" rIns="91440" bIns="45720" rtlCol="0" anchor="ctr">
            <a:normAutofit/>
          </a:bodyPr>
          <a:lstStyle/>
          <a:p>
            <a:r>
              <a:rPr lang="en-US"/>
              <a:t>Slide Title</a:t>
            </a:r>
          </a:p>
        </p:txBody>
      </p:sp>
      <p:pic>
        <p:nvPicPr>
          <p:cNvPr id="9" name="Picture 8" descr="Logo&#10;&#10;Description automatically generated">
            <a:extLst>
              <a:ext uri="{FF2B5EF4-FFF2-40B4-BE49-F238E27FC236}">
                <a16:creationId xmlns:a16="http://schemas.microsoft.com/office/drawing/2014/main" id="{826057D4-8318-D80A-3FA0-C7E1E17177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3782" y="292906"/>
            <a:ext cx="1437901" cy="431652"/>
          </a:xfrm>
          <a:prstGeom prst="rect">
            <a:avLst/>
          </a:prstGeom>
        </p:spPr>
      </p:pic>
    </p:spTree>
    <p:extLst>
      <p:ext uri="{BB962C8B-B14F-4D97-AF65-F5344CB8AC3E}">
        <p14:creationId xmlns:p14="http://schemas.microsoft.com/office/powerpoint/2010/main" val="868626164"/>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lnSpc>
          <a:spcPct val="90000"/>
        </a:lnSpc>
        <a:spcBef>
          <a:spcPct val="0"/>
        </a:spcBef>
        <a:buNone/>
        <a:defRPr sz="3200" kern="1200">
          <a:solidFill>
            <a:schemeClr val="tx1"/>
          </a:solidFill>
          <a:latin typeface="Eras Medium ITC" panose="020B06020305040208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Eras Medium ITC" panose="020B06020305040208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11">
            <a:extLst>
              <a:ext uri="{FF2B5EF4-FFF2-40B4-BE49-F238E27FC236}">
                <a16:creationId xmlns:a16="http://schemas.microsoft.com/office/drawing/2014/main" id="{AC44EFF4-A1E2-43E6-8B4D-C8670FDAA24B}"/>
              </a:ext>
            </a:extLst>
          </p:cNvPr>
          <p:cNvCxnSpPr/>
          <p:nvPr/>
        </p:nvCxnSpPr>
        <p:spPr>
          <a:xfrm>
            <a:off x="914400" y="4956175"/>
            <a:ext cx="10363200" cy="0"/>
          </a:xfrm>
          <a:prstGeom prst="line">
            <a:avLst/>
          </a:prstGeom>
          <a:ln w="9525" cap="rnd">
            <a:solidFill>
              <a:schemeClr val="bg1"/>
            </a:solidFill>
            <a:prstDash val="dot"/>
          </a:ln>
          <a:effectLst/>
        </p:spPr>
        <p:style>
          <a:lnRef idx="2">
            <a:schemeClr val="accent1"/>
          </a:lnRef>
          <a:fillRef idx="0">
            <a:schemeClr val="accent1"/>
          </a:fillRef>
          <a:effectRef idx="1">
            <a:schemeClr val="accent1"/>
          </a:effectRef>
          <a:fontRef idx="minor">
            <a:schemeClr val="tx1"/>
          </a:fontRef>
        </p:style>
      </p:cxnSp>
      <p:sp>
        <p:nvSpPr>
          <p:cNvPr id="8" name="Rectangle 15">
            <a:extLst>
              <a:ext uri="{FF2B5EF4-FFF2-40B4-BE49-F238E27FC236}">
                <a16:creationId xmlns:a16="http://schemas.microsoft.com/office/drawing/2014/main" id="{293437D1-3BF1-421B-8A88-440D1A1A7A37}"/>
              </a:ext>
            </a:extLst>
          </p:cNvPr>
          <p:cNvSpPr/>
          <p:nvPr/>
        </p:nvSpPr>
        <p:spPr>
          <a:xfrm>
            <a:off x="0" y="1642228"/>
            <a:ext cx="12192000" cy="109538"/>
          </a:xfrm>
          <a:prstGeom prst="rect">
            <a:avLst/>
          </a:prstGeom>
          <a:solidFill>
            <a:schemeClr val="accent1"/>
          </a:soli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itle 1">
            <a:extLst>
              <a:ext uri="{FF2B5EF4-FFF2-40B4-BE49-F238E27FC236}">
                <a16:creationId xmlns:a16="http://schemas.microsoft.com/office/drawing/2014/main" id="{3C56BEE5-28A8-4472-B705-007306CAA288}"/>
              </a:ext>
            </a:extLst>
          </p:cNvPr>
          <p:cNvSpPr txBox="1">
            <a:spLocks/>
          </p:cNvSpPr>
          <p:nvPr/>
        </p:nvSpPr>
        <p:spPr>
          <a:xfrm>
            <a:off x="914400" y="4335610"/>
            <a:ext cx="10363200" cy="553998"/>
          </a:xfrm>
          <a:prstGeom prst="rect">
            <a:avLst/>
          </a:prstGeom>
        </p:spPr>
        <p:txBody>
          <a:bodyPr lIns="0" tIns="0" rIns="0" bIns="0" anchor="b" anchorCtr="0">
            <a:spAutoFit/>
          </a:bodyPr>
          <a:lstStyle>
            <a:lvl1pPr algn="l" defTabSz="914400" rtl="0" eaLnBrk="1" latinLnBrk="0" hangingPunct="1">
              <a:lnSpc>
                <a:spcPct val="90000"/>
              </a:lnSpc>
              <a:spcBef>
                <a:spcPct val="0"/>
              </a:spcBef>
              <a:buNone/>
              <a:defRPr sz="4000" kern="1200">
                <a:solidFill>
                  <a:schemeClr val="bg1"/>
                </a:solidFill>
                <a:latin typeface="Arial"/>
                <a:ea typeface="+mj-ea"/>
                <a:cs typeface="Arial"/>
              </a:defRPr>
            </a:lvl1pPr>
          </a:lstStyle>
          <a:p>
            <a:r>
              <a:rPr lang="en-US"/>
              <a:t>Click to edit Master title style</a:t>
            </a:r>
          </a:p>
        </p:txBody>
      </p:sp>
      <p:sp>
        <p:nvSpPr>
          <p:cNvPr id="10" name="Subtitle 2">
            <a:extLst>
              <a:ext uri="{FF2B5EF4-FFF2-40B4-BE49-F238E27FC236}">
                <a16:creationId xmlns:a16="http://schemas.microsoft.com/office/drawing/2014/main" id="{A3DE4CA6-75AC-45E8-BD08-1F9A36AF21F0}"/>
              </a:ext>
            </a:extLst>
          </p:cNvPr>
          <p:cNvSpPr txBox="1">
            <a:spLocks/>
          </p:cNvSpPr>
          <p:nvPr/>
        </p:nvSpPr>
        <p:spPr>
          <a:xfrm>
            <a:off x="914400" y="5055447"/>
            <a:ext cx="10363200" cy="286232"/>
          </a:xfrm>
          <a:prstGeom prst="rect">
            <a:avLst/>
          </a:prstGeom>
        </p:spPr>
        <p:txBody>
          <a:bodyPr wrap="square" lIns="0" rIns="0">
            <a:spAutoFit/>
          </a:bodyPr>
          <a:lstStyle>
            <a:lvl1pPr marL="0" indent="0" algn="l" defTabSz="914400" rtl="0" eaLnBrk="1" latinLnBrk="0" hangingPunct="1">
              <a:lnSpc>
                <a:spcPct val="90000"/>
              </a:lnSpc>
              <a:spcBef>
                <a:spcPts val="1000"/>
              </a:spcBef>
              <a:buFont typeface="Arial" panose="020B0604020202020204" pitchFamily="34" charset="0"/>
              <a:buNone/>
              <a:defRPr sz="1400" kern="1200" spc="30">
                <a:solidFill>
                  <a:schemeClr val="bg1"/>
                </a:solidFill>
                <a:latin typeface="Arial"/>
                <a:ea typeface="+mn-ea"/>
                <a:cs typeface="Arial"/>
              </a:defRPr>
            </a:lvl1pPr>
            <a:lvl2pPr marL="4572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en-US"/>
              <a:t>Click to edit Master subtitle style</a:t>
            </a:r>
          </a:p>
        </p:txBody>
      </p:sp>
      <p:sp>
        <p:nvSpPr>
          <p:cNvPr id="23" name="TextBox 3">
            <a:extLst>
              <a:ext uri="{FF2B5EF4-FFF2-40B4-BE49-F238E27FC236}">
                <a16:creationId xmlns:a16="http://schemas.microsoft.com/office/drawing/2014/main" id="{841F1AD8-2589-4907-880B-3108BB8068FD}"/>
              </a:ext>
            </a:extLst>
          </p:cNvPr>
          <p:cNvSpPr txBox="1">
            <a:spLocks noChangeArrowheads="1"/>
          </p:cNvSpPr>
          <p:nvPr/>
        </p:nvSpPr>
        <p:spPr bwMode="auto">
          <a:xfrm>
            <a:off x="7128972" y="537395"/>
            <a:ext cx="43707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de-DE" sz="3200" i="0">
                <a:solidFill>
                  <a:schemeClr val="tx2"/>
                </a:solidFill>
                <a:latin typeface="Calibri Light" panose="020F0302020204030204" pitchFamily="34" charset="0"/>
                <a:cs typeface="Calibri Light" panose="020F0302020204030204" pitchFamily="34" charset="0"/>
              </a:rPr>
              <a:t>Turion Space Corporation </a:t>
            </a:r>
          </a:p>
        </p:txBody>
      </p:sp>
      <p:cxnSp>
        <p:nvCxnSpPr>
          <p:cNvPr id="26" name="Straight Connector 25">
            <a:extLst>
              <a:ext uri="{FF2B5EF4-FFF2-40B4-BE49-F238E27FC236}">
                <a16:creationId xmlns:a16="http://schemas.microsoft.com/office/drawing/2014/main" id="{6CEEC803-B7D0-418D-BC45-A26F66850092}"/>
              </a:ext>
            </a:extLst>
          </p:cNvPr>
          <p:cNvCxnSpPr>
            <a:cxnSpLocks/>
          </p:cNvCxnSpPr>
          <p:nvPr/>
        </p:nvCxnSpPr>
        <p:spPr>
          <a:xfrm>
            <a:off x="6093416" y="350015"/>
            <a:ext cx="0" cy="959536"/>
          </a:xfrm>
          <a:prstGeom prst="line">
            <a:avLst/>
          </a:prstGeom>
          <a:ln w="3175" cmpd="sng"/>
          <a:effectLst/>
        </p:spPr>
        <p:style>
          <a:lnRef idx="2">
            <a:schemeClr val="accent1"/>
          </a:lnRef>
          <a:fillRef idx="0">
            <a:schemeClr val="accent1"/>
          </a:fillRef>
          <a:effectRef idx="1">
            <a:schemeClr val="accent1"/>
          </a:effectRef>
          <a:fontRef idx="minor">
            <a:schemeClr val="tx1"/>
          </a:fontRef>
        </p:style>
      </p:cxnSp>
      <p:pic>
        <p:nvPicPr>
          <p:cNvPr id="3" name="Picture 2" descr="Logo&#10;&#10;Description automatically generated">
            <a:extLst>
              <a:ext uri="{FF2B5EF4-FFF2-40B4-BE49-F238E27FC236}">
                <a16:creationId xmlns:a16="http://schemas.microsoft.com/office/drawing/2014/main" id="{6460B615-70F5-FC26-3B8E-C88B431709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0709" y="195898"/>
            <a:ext cx="3914634" cy="1175158"/>
          </a:xfrm>
          <a:prstGeom prst="rect">
            <a:avLst/>
          </a:prstGeom>
        </p:spPr>
      </p:pic>
    </p:spTree>
    <p:extLst>
      <p:ext uri="{BB962C8B-B14F-4D97-AF65-F5344CB8AC3E}">
        <p14:creationId xmlns:p14="http://schemas.microsoft.com/office/powerpoint/2010/main" val="2613641711"/>
      </p:ext>
    </p:extLst>
  </p:cSld>
  <p:clrMap bg1="lt1" tx1="dk1" bg2="lt2" tx2="dk2" accent1="accent1" accent2="accent2" accent3="accent3" accent4="accent4" accent5="accent5" accent6="accent6" hlink="hlink" folHlink="folHlink"/>
  <p:sldLayoutIdLst>
    <p:sldLayoutId id="2147483673" r:id="rId1"/>
  </p:sldLayoutIdLst>
  <p:hf hdr="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11" name="Gerader Verbinder 15">
            <a:extLst>
              <a:ext uri="{FF2B5EF4-FFF2-40B4-BE49-F238E27FC236}">
                <a16:creationId xmlns:a16="http://schemas.microsoft.com/office/drawing/2014/main" id="{D511C9FF-70FE-4419-9F96-A11C2D14418C}"/>
              </a:ext>
            </a:extLst>
          </p:cNvPr>
          <p:cNvCxnSpPr/>
          <p:nvPr/>
        </p:nvCxnSpPr>
        <p:spPr>
          <a:xfrm>
            <a:off x="150079" y="1079500"/>
            <a:ext cx="11891844" cy="0"/>
          </a:xfrm>
          <a:prstGeom prst="line">
            <a:avLst/>
          </a:prstGeom>
          <a:ln w="19050">
            <a:solidFill>
              <a:srgbClr val="00468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D1B82B-C870-426E-A6FF-2EECF4C6DF2F}"/>
              </a:ext>
            </a:extLst>
          </p:cNvPr>
          <p:cNvSpPr>
            <a:spLocks noGrp="1"/>
          </p:cNvSpPr>
          <p:nvPr>
            <p:ph type="title"/>
          </p:nvPr>
        </p:nvSpPr>
        <p:spPr>
          <a:xfrm>
            <a:off x="1750981" y="126947"/>
            <a:ext cx="8770968" cy="952546"/>
          </a:xfrm>
          <a:prstGeom prst="rect">
            <a:avLst/>
          </a:prstGeom>
        </p:spPr>
        <p:txBody>
          <a:bodyPr vert="horz" lIns="91440" tIns="45720" rIns="91440" bIns="45720" rtlCol="0" anchor="ctr">
            <a:normAutofit/>
          </a:bodyPr>
          <a:lstStyle/>
          <a:p>
            <a:r>
              <a:rPr lang="en-US"/>
              <a:t>Slide Title</a:t>
            </a:r>
          </a:p>
        </p:txBody>
      </p:sp>
      <p:pic>
        <p:nvPicPr>
          <p:cNvPr id="9" name="Picture 8" descr="Logo&#10;&#10;Description automatically generated">
            <a:extLst>
              <a:ext uri="{FF2B5EF4-FFF2-40B4-BE49-F238E27FC236}">
                <a16:creationId xmlns:a16="http://schemas.microsoft.com/office/drawing/2014/main" id="{826057D4-8318-D80A-3FA0-C7E1E17177C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73782" y="292906"/>
            <a:ext cx="1437901" cy="431652"/>
          </a:xfrm>
          <a:prstGeom prst="rect">
            <a:avLst/>
          </a:prstGeom>
        </p:spPr>
      </p:pic>
      <p:sp>
        <p:nvSpPr>
          <p:cNvPr id="13" name="Date Placeholder 2">
            <a:extLst>
              <a:ext uri="{FF2B5EF4-FFF2-40B4-BE49-F238E27FC236}">
                <a16:creationId xmlns:a16="http://schemas.microsoft.com/office/drawing/2014/main" id="{F7F7E397-9DE7-9A2E-A81D-406DE09D08DA}"/>
              </a:ext>
            </a:extLst>
          </p:cNvPr>
          <p:cNvSpPr>
            <a:spLocks noGrp="1"/>
          </p:cNvSpPr>
          <p:nvPr>
            <p:ph type="dt" sz="half" idx="2"/>
          </p:nvPr>
        </p:nvSpPr>
        <p:spPr>
          <a:xfrm>
            <a:off x="150079" y="6508139"/>
            <a:ext cx="2743200" cy="235561"/>
          </a:xfrm>
          <a:prstGeom prst="rect">
            <a:avLst/>
          </a:prstGeom>
        </p:spPr>
        <p:txBody>
          <a:bodyPr anchor="b"/>
          <a:lstStyle>
            <a:lvl1pPr>
              <a:defRPr sz="900">
                <a:latin typeface="+mj-lt"/>
              </a:defRPr>
            </a:lvl1pPr>
          </a:lstStyle>
          <a:p>
            <a:fld id="{002369FF-696E-4C25-BA6D-3B92CDB3C44E}" type="datetime1">
              <a:rPr lang="en-US" smtClean="0"/>
              <a:pPr/>
              <a:t>10/6/2026</a:t>
            </a:fld>
            <a:endParaRPr lang="de-DE"/>
          </a:p>
        </p:txBody>
      </p:sp>
      <p:sp>
        <p:nvSpPr>
          <p:cNvPr id="14" name="Footer Placeholder 3">
            <a:extLst>
              <a:ext uri="{FF2B5EF4-FFF2-40B4-BE49-F238E27FC236}">
                <a16:creationId xmlns:a16="http://schemas.microsoft.com/office/drawing/2014/main" id="{AC3EC2D1-61DE-231B-C59E-CE20F48115BC}"/>
              </a:ext>
            </a:extLst>
          </p:cNvPr>
          <p:cNvSpPr>
            <a:spLocks noGrp="1"/>
          </p:cNvSpPr>
          <p:nvPr>
            <p:ph type="ftr" sz="quarter" idx="3"/>
          </p:nvPr>
        </p:nvSpPr>
        <p:spPr>
          <a:xfrm>
            <a:off x="3230033" y="6508139"/>
            <a:ext cx="5731934" cy="235561"/>
          </a:xfrm>
          <a:prstGeom prst="rect">
            <a:avLst/>
          </a:prstGeom>
        </p:spPr>
        <p:txBody>
          <a:bodyPr anchor="b"/>
          <a:lstStyle>
            <a:lvl1pPr algn="ctr">
              <a:defRPr sz="900">
                <a:latin typeface="+mj-lt"/>
              </a:defRPr>
            </a:lvl1pPr>
          </a:lstStyle>
          <a:p>
            <a:r>
              <a:rPr lang="en-US"/>
              <a:t>Use or disclosure of data contained on this page is subject to the restriction on the first page of this volume</a:t>
            </a:r>
            <a:endParaRPr lang="de-DE"/>
          </a:p>
        </p:txBody>
      </p:sp>
      <p:sp>
        <p:nvSpPr>
          <p:cNvPr id="15" name="Slide Number Placeholder 4">
            <a:extLst>
              <a:ext uri="{FF2B5EF4-FFF2-40B4-BE49-F238E27FC236}">
                <a16:creationId xmlns:a16="http://schemas.microsoft.com/office/drawing/2014/main" id="{DB561E77-823E-DFA1-CF5D-8B08C8329722}"/>
              </a:ext>
            </a:extLst>
          </p:cNvPr>
          <p:cNvSpPr>
            <a:spLocks noGrp="1"/>
          </p:cNvSpPr>
          <p:nvPr>
            <p:ph type="sldNum" sz="quarter" idx="4"/>
          </p:nvPr>
        </p:nvSpPr>
        <p:spPr>
          <a:xfrm>
            <a:off x="9046633" y="6508139"/>
            <a:ext cx="3003703" cy="235561"/>
          </a:xfrm>
          <a:prstGeom prst="rect">
            <a:avLst/>
          </a:prstGeom>
        </p:spPr>
        <p:txBody>
          <a:bodyPr anchor="b"/>
          <a:lstStyle>
            <a:lvl1pPr algn="r">
              <a:defRPr sz="900">
                <a:latin typeface="+mj-lt"/>
              </a:defRPr>
            </a:lvl1pPr>
          </a:lstStyle>
          <a:p>
            <a:r>
              <a:rPr lang="en-US"/>
              <a:t>© 2024 Turion Space Corp. All Rights Reserved. | </a:t>
            </a:r>
            <a:fld id="{8775FF88-D48D-4EBF-B4BE-754F63DF0919}" type="slidenum">
              <a:rPr lang="de-DE" smtClean="0"/>
              <a:pPr/>
              <a:t>‹#›</a:t>
            </a:fld>
            <a:endParaRPr lang="de-DE"/>
          </a:p>
        </p:txBody>
      </p:sp>
    </p:spTree>
    <p:extLst>
      <p:ext uri="{BB962C8B-B14F-4D97-AF65-F5344CB8AC3E}">
        <p14:creationId xmlns:p14="http://schemas.microsoft.com/office/powerpoint/2010/main" val="868626164"/>
      </p:ext>
    </p:extLst>
  </p:cSld>
  <p:clrMap bg1="lt1" tx1="dk1" bg2="lt2" tx2="dk2" accent1="accent1" accent2="accent2" accent3="accent3" accent4="accent4" accent5="accent5" accent6="accent6" hlink="hlink" folHlink="folHlink"/>
  <p:sldLayoutIdLst>
    <p:sldLayoutId id="2147483691" r:id="rId1"/>
    <p:sldLayoutId id="2147483676" r:id="rId2"/>
    <p:sldLayoutId id="2147483692" r:id="rId3"/>
  </p:sldLayoutIdLst>
  <p:hf hdr="0"/>
  <p:txStyles>
    <p:titleStyle>
      <a:lvl1pPr algn="ctr" defTabSz="914400" rtl="0" eaLnBrk="1" latinLnBrk="0" hangingPunct="1">
        <a:lnSpc>
          <a:spcPct val="90000"/>
        </a:lnSpc>
        <a:spcBef>
          <a:spcPct val="0"/>
        </a:spcBef>
        <a:buNone/>
        <a:defRPr sz="3200" kern="1200">
          <a:solidFill>
            <a:schemeClr val="tx1"/>
          </a:solidFill>
          <a:latin typeface="Eras Medium ITC" panose="020B06020305040208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Eras Medium ITC" panose="020B06020305040208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0_38F51A8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urionspacesys.sharepoint.com/:x:/s/61500FARSIGHT/EfOvoDxueNxFkXgZwBif78ABpvIaP80HTKNyuX3x6cyYsQ?e=1A24F9" TargetMode="External"/><Relationship Id="rId2" Type="http://schemas.microsoft.com/office/2018/10/relationships/comments" Target="../comments/modernComment_102_B87A0C40.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2426BB4-5B3B-27C5-7BBC-83D8CDBDA0E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9826" y="4983910"/>
            <a:ext cx="6672580" cy="654050"/>
          </a:xfrm>
          <a:prstGeom prst="rect">
            <a:avLst/>
          </a:prstGeom>
          <a:noFill/>
          <a:ln>
            <a:noFill/>
          </a:ln>
        </p:spPr>
      </p:pic>
      <p:sp>
        <p:nvSpPr>
          <p:cNvPr id="4" name="Title 3">
            <a:extLst>
              <a:ext uri="{FF2B5EF4-FFF2-40B4-BE49-F238E27FC236}">
                <a16:creationId xmlns:a16="http://schemas.microsoft.com/office/drawing/2014/main" id="{2B59E523-E029-4AF4-9ABE-63055C325F34}"/>
              </a:ext>
            </a:extLst>
          </p:cNvPr>
          <p:cNvSpPr>
            <a:spLocks noGrp="1"/>
          </p:cNvSpPr>
          <p:nvPr>
            <p:ph type="title" idx="4294967295"/>
          </p:nvPr>
        </p:nvSpPr>
        <p:spPr>
          <a:xfrm>
            <a:off x="222140" y="2437666"/>
            <a:ext cx="11747715" cy="1982667"/>
          </a:xfrm>
          <a:prstGeom prst="rect">
            <a:avLst/>
          </a:prstGeom>
        </p:spPr>
        <p:txBody>
          <a:bodyPr lIns="91440" tIns="45720" rIns="91440" bIns="45720" anchor="t">
            <a:noAutofit/>
          </a:bodyPr>
          <a:lstStyle/>
          <a:p>
            <a:r>
              <a:rPr lang="en-US" b="1">
                <a:latin typeface="Eras Medium ITC"/>
              </a:rPr>
              <a:t>ANALYSIS, THERMAL, FARSIGHT AVIONICS MODULE</a:t>
            </a:r>
            <a:endParaRPr lang="en-US" b="1">
              <a:latin typeface="Eras Medium ITC" panose="020B0602030504020804" pitchFamily="34" charset="0"/>
            </a:endParaRPr>
          </a:p>
        </p:txBody>
      </p:sp>
      <p:graphicFrame>
        <p:nvGraphicFramePr>
          <p:cNvPr id="7" name="Table 6">
            <a:extLst>
              <a:ext uri="{FF2B5EF4-FFF2-40B4-BE49-F238E27FC236}">
                <a16:creationId xmlns:a16="http://schemas.microsoft.com/office/drawing/2014/main" id="{1113CB9C-6E57-FEDC-0B84-0F6DF53EC7A5}"/>
              </a:ext>
            </a:extLst>
          </p:cNvPr>
          <p:cNvGraphicFramePr>
            <a:graphicFrameLocks noGrp="1"/>
          </p:cNvGraphicFramePr>
          <p:nvPr>
            <p:extLst>
              <p:ext uri="{D42A27DB-BD31-4B8C-83A1-F6EECF244321}">
                <p14:modId xmlns:p14="http://schemas.microsoft.com/office/powerpoint/2010/main" val="3888466235"/>
              </p:ext>
            </p:extLst>
          </p:nvPr>
        </p:nvGraphicFramePr>
        <p:xfrm>
          <a:off x="379826" y="5598374"/>
          <a:ext cx="11432348" cy="923862"/>
        </p:xfrm>
        <a:graphic>
          <a:graphicData uri="http://schemas.openxmlformats.org/drawingml/2006/table">
            <a:tbl>
              <a:tblPr/>
              <a:tblGrid>
                <a:gridCol w="379944">
                  <a:extLst>
                    <a:ext uri="{9D8B030D-6E8A-4147-A177-3AD203B41FA5}">
                      <a16:colId xmlns:a16="http://schemas.microsoft.com/office/drawing/2014/main" val="267118471"/>
                    </a:ext>
                  </a:extLst>
                </a:gridCol>
                <a:gridCol w="9489473">
                  <a:extLst>
                    <a:ext uri="{9D8B030D-6E8A-4147-A177-3AD203B41FA5}">
                      <a16:colId xmlns:a16="http://schemas.microsoft.com/office/drawing/2014/main" val="524502082"/>
                    </a:ext>
                  </a:extLst>
                </a:gridCol>
                <a:gridCol w="593663">
                  <a:extLst>
                    <a:ext uri="{9D8B030D-6E8A-4147-A177-3AD203B41FA5}">
                      <a16:colId xmlns:a16="http://schemas.microsoft.com/office/drawing/2014/main" val="192414079"/>
                    </a:ext>
                  </a:extLst>
                </a:gridCol>
                <a:gridCol w="969268">
                  <a:extLst>
                    <a:ext uri="{9D8B030D-6E8A-4147-A177-3AD203B41FA5}">
                      <a16:colId xmlns:a16="http://schemas.microsoft.com/office/drawing/2014/main" val="2482992690"/>
                    </a:ext>
                  </a:extLst>
                </a:gridCol>
              </a:tblGrid>
              <a:tr h="123646">
                <a:tc gridSpan="4">
                  <a:txBody>
                    <a:bodyPr/>
                    <a:lstStyle/>
                    <a:p>
                      <a:pPr marL="0" marR="0">
                        <a:lnSpc>
                          <a:spcPct val="100000"/>
                        </a:lnSpc>
                        <a:spcBef>
                          <a:spcPts val="0"/>
                        </a:spcBef>
                        <a:spcAft>
                          <a:spcPts val="0"/>
                        </a:spcAft>
                      </a:pPr>
                      <a:r>
                        <a:rPr lang="en-US" sz="700" b="1">
                          <a:effectLst/>
                          <a:latin typeface="Calibri"/>
                          <a:ea typeface="Calibri" panose="020F0502020204030204" pitchFamily="34" charset="0"/>
                          <a:cs typeface="Times New Roman"/>
                        </a:rPr>
                        <a:t>ITEM NUMBER: CM-02650</a:t>
                      </a:r>
                      <a:endParaRPr lang="en-US" sz="700" b="1">
                        <a:solidFill>
                          <a:srgbClr val="0070C0"/>
                        </a:solidFill>
                        <a:effectLst/>
                        <a:latin typeface="Calibri"/>
                        <a:ea typeface="Calibri" panose="020F0502020204030204" pitchFamily="34" charset="0"/>
                        <a:cs typeface="Times New Roman"/>
                      </a:endParaRPr>
                    </a:p>
                  </a:txBody>
                  <a:tcPr marL="73025" marR="73025"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w="6350" cap="flat" cmpd="sng" algn="ctr">
                      <a:solidFill>
                        <a:schemeClr val="tx1"/>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58639325"/>
                  </a:ext>
                </a:extLst>
              </a:tr>
              <a:tr h="138652">
                <a:tc>
                  <a:txBody>
                    <a:bodyPr/>
                    <a:lstStyle/>
                    <a:p>
                      <a:pPr marL="0" marR="0" algn="ctr">
                        <a:lnSpc>
                          <a:spcPct val="100000"/>
                        </a:lnSpc>
                        <a:spcBef>
                          <a:spcPts val="0"/>
                        </a:spcBef>
                        <a:spcAft>
                          <a:spcPts val="0"/>
                        </a:spcAft>
                      </a:pPr>
                      <a:r>
                        <a:rPr lang="en-US" sz="700" b="1">
                          <a:effectLst/>
                          <a:latin typeface="Calibri"/>
                          <a:ea typeface="Calibri" panose="020F0502020204030204" pitchFamily="34" charset="0"/>
                          <a:cs typeface="Times New Roman"/>
                        </a:rPr>
                        <a:t>REV:</a:t>
                      </a:r>
                      <a:endParaRPr lang="en-US" sz="700">
                        <a:effectLst/>
                        <a:latin typeface="Calibri"/>
                        <a:ea typeface="Calibri" panose="020F0502020204030204" pitchFamily="34" charset="0"/>
                        <a:cs typeface="Times New Roman"/>
                      </a:endParaRPr>
                    </a:p>
                  </a:txBody>
                  <a:tcPr marL="68580" marR="6858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700" b="1">
                          <a:effectLst/>
                          <a:latin typeface="Calibri"/>
                          <a:ea typeface="Calibri" panose="020F0502020204030204" pitchFamily="34" charset="0"/>
                          <a:cs typeface="Times New Roman"/>
                        </a:rPr>
                        <a:t>DESCRIPTION:</a:t>
                      </a:r>
                      <a:endParaRPr lang="en-US" sz="700">
                        <a:effectLst/>
                        <a:latin typeface="Calibri"/>
                        <a:ea typeface="Calibri" panose="020F0502020204030204" pitchFamily="34" charset="0"/>
                        <a:cs typeface="Times New Roman"/>
                      </a:endParaRPr>
                    </a:p>
                  </a:txBody>
                  <a:tcPr marL="68580" marR="6858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700" b="1">
                          <a:effectLst/>
                          <a:latin typeface="Calibri"/>
                          <a:ea typeface="Calibri" panose="020F0502020204030204" pitchFamily="34" charset="0"/>
                          <a:cs typeface="Times New Roman"/>
                        </a:rPr>
                        <a:t>DATE:</a:t>
                      </a:r>
                      <a:endParaRPr lang="en-US" sz="700">
                        <a:effectLst/>
                        <a:latin typeface="Calibri"/>
                        <a:ea typeface="Calibri" panose="020F0502020204030204" pitchFamily="34" charset="0"/>
                        <a:cs typeface="Times New Roman"/>
                      </a:endParaRPr>
                    </a:p>
                  </a:txBody>
                  <a:tcPr marL="0" marR="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700" b="1">
                          <a:effectLst/>
                          <a:latin typeface="Calibri"/>
                          <a:ea typeface="Calibri" panose="020F0502020204030204" pitchFamily="34" charset="0"/>
                          <a:cs typeface="Times New Roman"/>
                        </a:rPr>
                        <a:t>APPROVED:</a:t>
                      </a:r>
                      <a:endParaRPr lang="en-US" sz="700">
                        <a:effectLst/>
                        <a:latin typeface="Calibri"/>
                        <a:ea typeface="Calibri" panose="020F0502020204030204" pitchFamily="34" charset="0"/>
                        <a:cs typeface="Times New Roman"/>
                      </a:endParaRPr>
                    </a:p>
                  </a:txBody>
                  <a:tcPr marL="68580" marR="6858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56145495"/>
                  </a:ext>
                </a:extLst>
              </a:tr>
              <a:tr h="138652">
                <a:tc>
                  <a:txBody>
                    <a:bodyPr/>
                    <a:lstStyle/>
                    <a:p>
                      <a:pPr marL="0" marR="0" algn="ctr">
                        <a:lnSpc>
                          <a:spcPct val="100000"/>
                        </a:lnSpc>
                        <a:spcBef>
                          <a:spcPts val="0"/>
                        </a:spcBef>
                        <a:spcAft>
                          <a:spcPts val="0"/>
                        </a:spcAft>
                        <a:tabLst>
                          <a:tab pos="2468880" algn="l"/>
                        </a:tabLst>
                      </a:pPr>
                      <a:r>
                        <a:rPr lang="en-US" sz="700">
                          <a:solidFill>
                            <a:srgbClr val="0070C0"/>
                          </a:solidFill>
                          <a:effectLst/>
                          <a:latin typeface="Calibri"/>
                          <a:ea typeface="Times New Roman" panose="02020603050405020304" pitchFamily="18" charset="0"/>
                          <a:cs typeface="Times New Roman"/>
                        </a:rPr>
                        <a:t>1</a:t>
                      </a: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tabLst>
                          <a:tab pos="2468880" algn="l"/>
                        </a:tabLst>
                      </a:pP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tabLst>
                          <a:tab pos="2468880" algn="l"/>
                        </a:tabLst>
                      </a:pPr>
                      <a:endParaRPr lang="en-US" sz="700">
                        <a:effectLst/>
                        <a:latin typeface="Calibri"/>
                        <a:ea typeface="Calibri" panose="020F0502020204030204" pitchFamily="34" charset="0"/>
                        <a:cs typeface="Times New Roman"/>
                      </a:endParaRPr>
                    </a:p>
                  </a:txBody>
                  <a:tcPr marL="0" marR="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tabLst>
                          <a:tab pos="2468880" algn="l"/>
                        </a:tabLst>
                      </a:pP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2078397"/>
                  </a:ext>
                </a:extLst>
              </a:tr>
              <a:tr h="138652">
                <a:tc>
                  <a:txBody>
                    <a:bodyPr/>
                    <a:lstStyle/>
                    <a:p>
                      <a:pPr marL="0" marR="0" algn="ctr">
                        <a:lnSpc>
                          <a:spcPct val="100000"/>
                        </a:lnSpc>
                        <a:spcBef>
                          <a:spcPts val="0"/>
                        </a:spcBef>
                        <a:spcAft>
                          <a:spcPts val="0"/>
                        </a:spcAft>
                        <a:tabLst>
                          <a:tab pos="2468880" algn="l"/>
                        </a:tabLst>
                      </a:pPr>
                      <a:r>
                        <a:rPr lang="en-US" sz="700">
                          <a:solidFill>
                            <a:srgbClr val="0070C0"/>
                          </a:solidFill>
                          <a:effectLst/>
                          <a:latin typeface="Calibri"/>
                          <a:ea typeface="Times New Roman" panose="02020603050405020304" pitchFamily="18" charset="0"/>
                          <a:cs typeface="Times New Roman"/>
                        </a:rPr>
                        <a:t>2</a:t>
                      </a: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tabLst>
                          <a:tab pos="2468880" algn="l"/>
                        </a:tabLst>
                      </a:pP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tabLst>
                          <a:tab pos="2468880" algn="l"/>
                        </a:tabLst>
                      </a:pPr>
                      <a:endParaRPr lang="en-US" sz="700">
                        <a:effectLst/>
                        <a:latin typeface="Calibri"/>
                        <a:ea typeface="Calibri" panose="020F0502020204030204" pitchFamily="34" charset="0"/>
                        <a:cs typeface="Times New Roman"/>
                      </a:endParaRPr>
                    </a:p>
                  </a:txBody>
                  <a:tcPr marL="0" marR="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tabLst>
                          <a:tab pos="2468880" algn="l"/>
                        </a:tabLst>
                      </a:pP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1516356"/>
                  </a:ext>
                </a:extLst>
              </a:tr>
              <a:tr h="138652">
                <a:tc>
                  <a:txBody>
                    <a:bodyPr/>
                    <a:lstStyle/>
                    <a:p>
                      <a:pPr marL="0" marR="0" algn="ctr">
                        <a:lnSpc>
                          <a:spcPct val="100000"/>
                        </a:lnSpc>
                        <a:spcBef>
                          <a:spcPts val="0"/>
                        </a:spcBef>
                        <a:spcAft>
                          <a:spcPts val="0"/>
                        </a:spcAft>
                      </a:pPr>
                      <a:r>
                        <a:rPr lang="en-US" sz="700">
                          <a:solidFill>
                            <a:srgbClr val="0070C0"/>
                          </a:solidFill>
                          <a:effectLst/>
                          <a:latin typeface="Calibri"/>
                          <a:ea typeface="Calibri" panose="020F0502020204030204" pitchFamily="34" charset="0"/>
                          <a:cs typeface="Times New Roman"/>
                        </a:rPr>
                        <a:t>X</a:t>
                      </a: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700" i="1">
                          <a:solidFill>
                            <a:srgbClr val="0070C0"/>
                          </a:solidFill>
                          <a:effectLst/>
                          <a:latin typeface="Calibri"/>
                          <a:ea typeface="Calibri" panose="020F0502020204030204" pitchFamily="34" charset="0"/>
                          <a:cs typeface="Times New Roman"/>
                        </a:rPr>
                        <a:t>*Add additional rows if required</a:t>
                      </a: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700">
                          <a:solidFill>
                            <a:srgbClr val="0070C0"/>
                          </a:solidFill>
                          <a:effectLst/>
                          <a:latin typeface="Calibri"/>
                          <a:ea typeface="Calibri" panose="020F0502020204030204" pitchFamily="34" charset="0"/>
                          <a:cs typeface="Times New Roman"/>
                        </a:rPr>
                        <a:t>XX/XX/XXXX</a:t>
                      </a:r>
                      <a:endParaRPr lang="en-US" sz="700">
                        <a:effectLst/>
                        <a:latin typeface="Calibri"/>
                        <a:ea typeface="Calibri" panose="020F0502020204030204" pitchFamily="34" charset="0"/>
                        <a:cs typeface="Times New Roman"/>
                      </a:endParaRPr>
                    </a:p>
                  </a:txBody>
                  <a:tcPr marL="0" marR="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0000"/>
                        </a:lnSpc>
                        <a:spcBef>
                          <a:spcPts val="0"/>
                        </a:spcBef>
                        <a:spcAft>
                          <a:spcPts val="0"/>
                        </a:spcAft>
                      </a:pPr>
                      <a:r>
                        <a:rPr lang="en-US" sz="700">
                          <a:solidFill>
                            <a:srgbClr val="0070C0"/>
                          </a:solidFill>
                          <a:effectLst/>
                          <a:latin typeface="Calibri"/>
                          <a:ea typeface="Calibri" panose="020F0502020204030204" pitchFamily="34" charset="0"/>
                          <a:cs typeface="Times New Roman"/>
                        </a:rPr>
                        <a:t>X. XXXX</a:t>
                      </a:r>
                      <a:endParaRPr lang="en-US" sz="700">
                        <a:effectLst/>
                        <a:latin typeface="Calibri"/>
                        <a:ea typeface="Calibri" panose="020F0502020204030204" pitchFamily="34" charset="0"/>
                        <a:cs typeface="Times New Roman"/>
                      </a:endParaRPr>
                    </a:p>
                  </a:txBody>
                  <a:tcPr marL="68580" marR="68580" marT="18288" marB="18288">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4230037"/>
                  </a:ext>
                </a:extLst>
              </a:tr>
              <a:tr h="191578">
                <a:tc gridSpan="4">
                  <a:txBody>
                    <a:bodyPr/>
                    <a:lstStyle/>
                    <a:p>
                      <a:pPr marL="45720" marR="0" lvl="0" indent="0" algn="l" defTabSz="914400" rtl="0" eaLnBrk="1" fontAlgn="auto" latinLnBrk="0" hangingPunct="1">
                        <a:lnSpc>
                          <a:spcPct val="79365"/>
                        </a:lnSpc>
                        <a:spcBef>
                          <a:spcPts val="0"/>
                        </a:spcBef>
                        <a:spcAft>
                          <a:spcPts val="0"/>
                        </a:spcAft>
                        <a:buClrTx/>
                        <a:buSzTx/>
                        <a:buFontTx/>
                        <a:buNone/>
                        <a:tabLst>
                          <a:tab pos="2971800" algn="ctr"/>
                          <a:tab pos="5943600" algn="r"/>
                        </a:tabLst>
                        <a:defRPr/>
                      </a:pPr>
                      <a:r>
                        <a:rPr kumimoji="0" lang="en-US" sz="700" b="0" i="0" u="none" strike="noStrike" kern="1200" cap="none" spc="0" normalizeH="0" baseline="0" noProof="0">
                          <a:ln>
                            <a:noFill/>
                          </a:ln>
                          <a:solidFill>
                            <a:prstClr val="black"/>
                          </a:solidFill>
                          <a:effectLst/>
                          <a:uLnTx/>
                          <a:uFillTx/>
                          <a:latin typeface="Calibri"/>
                          <a:ea typeface="Calibri" panose="020F0502020204030204" pitchFamily="34" charset="0"/>
                          <a:cs typeface="Times New Roman"/>
                        </a:rPr>
                        <a:t>CM-01354_TEMPLATE, ENGINEERING, POWERPOINT, DETAILED_rev1</a:t>
                      </a:r>
                    </a:p>
                    <a:p>
                      <a:pPr marL="45720" marR="0" lvl="0" indent="0" algn="l" defTabSz="914400" rtl="0" eaLnBrk="1" fontAlgn="auto" latinLnBrk="0" hangingPunct="1">
                        <a:lnSpc>
                          <a:spcPct val="79365"/>
                        </a:lnSpc>
                        <a:spcBef>
                          <a:spcPts val="0"/>
                        </a:spcBef>
                        <a:spcAft>
                          <a:spcPts val="0"/>
                        </a:spcAft>
                        <a:buClrTx/>
                        <a:buSzTx/>
                        <a:buFontTx/>
                        <a:buNone/>
                        <a:tabLst>
                          <a:tab pos="2971800" algn="ctr"/>
                          <a:tab pos="5943600" algn="r"/>
                        </a:tabLst>
                        <a:defRPr/>
                      </a:pPr>
                      <a:r>
                        <a:rPr kumimoji="0" lang="en-US" sz="700" b="0" i="0" u="none" strike="noStrike" kern="1200" cap="none" spc="0" normalizeH="0" baseline="0" noProof="0">
                          <a:ln>
                            <a:noFill/>
                          </a:ln>
                          <a:solidFill>
                            <a:prstClr val="black"/>
                          </a:solidFill>
                          <a:effectLst/>
                          <a:uLnTx/>
                          <a:uFillTx/>
                          <a:latin typeface="Calibri"/>
                          <a:ea typeface="Calibri" panose="020F0502020204030204" pitchFamily="34" charset="0"/>
                          <a:cs typeface="Times New Roman"/>
                        </a:rPr>
                        <a:t>REV DATE: 01-11-2024</a:t>
                      </a:r>
                    </a:p>
                  </a:txBody>
                  <a:tcPr marL="0" marR="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a:lnSpc>
                          <a:spcPct val="10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ctr">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a:lnL w="635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nSpc>
                          <a:spcPct val="115000"/>
                        </a:lnSpc>
                        <a:spcBef>
                          <a:spcPts val="0"/>
                        </a:spcBef>
                        <a:spcAft>
                          <a:spcPts val="0"/>
                        </a:spcAf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0431295"/>
                  </a:ext>
                </a:extLst>
              </a:tr>
            </a:tbl>
          </a:graphicData>
        </a:graphic>
      </p:graphicFrame>
    </p:spTree>
    <p:extLst>
      <p:ext uri="{BB962C8B-B14F-4D97-AF65-F5344CB8AC3E}">
        <p14:creationId xmlns:p14="http://schemas.microsoft.com/office/powerpoint/2010/main" val="95558720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1DB1DA-2CC8-A84D-2981-DA2827485A95}"/>
              </a:ext>
            </a:extLst>
          </p:cNvPr>
          <p:cNvSpPr>
            <a:spLocks noGrp="1"/>
          </p:cNvSpPr>
          <p:nvPr>
            <p:ph idx="1"/>
          </p:nvPr>
        </p:nvSpPr>
        <p:spPr>
          <a:xfrm>
            <a:off x="273480" y="1123056"/>
            <a:ext cx="11645038" cy="5267976"/>
          </a:xfrm>
        </p:spPr>
        <p:txBody>
          <a:bodyPr>
            <a:normAutofit/>
          </a:bodyPr>
          <a:lstStyle/>
          <a:p>
            <a:r>
              <a:rPr lang="en-US"/>
              <a:t>The Farsight Avionics Module (CM-02616) design was iterated collaboratively with input from the Mechanical, Thermal, and Structural teams </a:t>
            </a:r>
          </a:p>
          <a:p>
            <a:r>
              <a:rPr lang="en-US"/>
              <a:t>Thermal model Farsight_Avionics_Module_CM-02616_V17.dwg aligns with Version 17 of the CAD model</a:t>
            </a:r>
          </a:p>
          <a:p>
            <a:r>
              <a:rPr lang="en-US"/>
              <a:t>Key component details (heat loads, junction resistances, min/max temperatures) summarized here: </a:t>
            </a:r>
            <a:r>
              <a:rPr lang="en-US">
                <a:hlinkClick r:id="rId3"/>
              </a:rPr>
              <a:t>THERMAL_INFO_DUMP</a:t>
            </a:r>
            <a:endParaRPr lang="en-US"/>
          </a:p>
          <a:p>
            <a:r>
              <a:rPr lang="en-US"/>
              <a:t>5°C thermal uncertainty margin is held for junction temperatures</a:t>
            </a:r>
          </a:p>
          <a:p>
            <a:r>
              <a:rPr lang="en-US"/>
              <a:t>Total nominal power dissipation of the module is 13 W</a:t>
            </a:r>
          </a:p>
          <a:p>
            <a:r>
              <a:rPr lang="en-US"/>
              <a:t>Hot case analysis performed for a 60°C mounting panel shows that the module can operate up to a 60°C mounting interface</a:t>
            </a:r>
          </a:p>
          <a:p>
            <a:endParaRPr lang="en-US"/>
          </a:p>
        </p:txBody>
      </p:sp>
      <p:sp>
        <p:nvSpPr>
          <p:cNvPr id="3" name="Title 2">
            <a:extLst>
              <a:ext uri="{FF2B5EF4-FFF2-40B4-BE49-F238E27FC236}">
                <a16:creationId xmlns:a16="http://schemas.microsoft.com/office/drawing/2014/main" id="{B1623B1D-06B2-BB37-8A61-E7BAB0A291B9}"/>
              </a:ext>
            </a:extLst>
          </p:cNvPr>
          <p:cNvSpPr>
            <a:spLocks noGrp="1"/>
          </p:cNvSpPr>
          <p:nvPr>
            <p:ph type="title"/>
          </p:nvPr>
        </p:nvSpPr>
        <p:spPr/>
        <p:txBody>
          <a:bodyPr>
            <a:normAutofit/>
          </a:bodyPr>
          <a:lstStyle/>
          <a:p>
            <a:r>
              <a:rPr lang="en-US"/>
              <a:t>Overview</a:t>
            </a:r>
          </a:p>
        </p:txBody>
      </p:sp>
      <p:sp>
        <p:nvSpPr>
          <p:cNvPr id="4" name="Date Placeholder 3">
            <a:extLst>
              <a:ext uri="{FF2B5EF4-FFF2-40B4-BE49-F238E27FC236}">
                <a16:creationId xmlns:a16="http://schemas.microsoft.com/office/drawing/2014/main" id="{E445C86E-72C0-14B0-84FB-860330FAF33F}"/>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3D870A92-EED8-7650-F964-7F1F90730755}"/>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1E90D33D-FCAE-F16E-F976-EF383DE0A09C}"/>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2</a:t>
            </a:fld>
            <a:endParaRPr lang="de-DE"/>
          </a:p>
        </p:txBody>
      </p:sp>
    </p:spTree>
    <p:extLst>
      <p:ext uri="{BB962C8B-B14F-4D97-AF65-F5344CB8AC3E}">
        <p14:creationId xmlns:p14="http://schemas.microsoft.com/office/powerpoint/2010/main" val="3095006272"/>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5A4093F-0F7D-B49A-757E-D4FD4642E2DB}"/>
                  </a:ext>
                </a:extLst>
              </p:cNvPr>
              <p:cNvSpPr>
                <a:spLocks noGrp="1"/>
              </p:cNvSpPr>
              <p:nvPr>
                <p:ph idx="1"/>
              </p:nvPr>
            </p:nvSpPr>
            <p:spPr/>
            <p:txBody>
              <a:bodyPr>
                <a:normAutofit lnSpcReduction="10000"/>
              </a:bodyPr>
              <a:lstStyle/>
              <a:p>
                <a:r>
                  <a:rPr lang="en-US"/>
                  <a:t>Conduction via fastener mounting and TIM are the primary heat paths</a:t>
                </a:r>
              </a:p>
              <a:p>
                <a:r>
                  <a:rPr lang="en-US"/>
                  <a:t>Some component spec sheets contained no information 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𝐽𝐵</m:t>
                        </m:r>
                      </m:sub>
                    </m:sSub>
                  </m:oMath>
                </a14:m>
                <a:r>
                  <a:rPr lang="en-US"/>
                  <a:t> (junction-to-board thermal resistance). In these cases,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𝐽𝐵</m:t>
                        </m:r>
                      </m:sub>
                    </m:sSub>
                  </m:oMath>
                </a14:m>
                <a:r>
                  <a:rPr lang="en-US"/>
                  <a:t> was assumed based on the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𝐽𝐵</m:t>
                        </m:r>
                      </m:sub>
                    </m:sSub>
                    <m:r>
                      <a:rPr lang="en-US" b="0" i="0" smtClean="0">
                        <a:latin typeface="Cambria Math" panose="02040503050406030204" pitchFamily="18" charset="0"/>
                      </a:rPr>
                      <m:t> </m:t>
                    </m:r>
                  </m:oMath>
                </a14:m>
                <a:r>
                  <a:rPr lang="en-US"/>
                  <a:t>vs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𝐽</m:t>
                        </m:r>
                        <m:r>
                          <a:rPr lang="en-US" b="0" i="1" smtClean="0">
                            <a:latin typeface="Cambria Math" panose="02040503050406030204" pitchFamily="18" charset="0"/>
                          </a:rPr>
                          <m:t>𝐴</m:t>
                        </m:r>
                      </m:sub>
                    </m:sSub>
                  </m:oMath>
                </a14:m>
                <a:r>
                  <a:rPr lang="en-US"/>
                  <a:t> relationship of other components</a:t>
                </a:r>
              </a:p>
              <a:p>
                <a:pPr lvl="1"/>
                <a:r>
                  <a:rPr lang="en-US"/>
                  <a:t>Note that this is not necessarily a good assumption, but uncertainty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𝐽𝐵</m:t>
                        </m:r>
                      </m:sub>
                    </m:sSub>
                  </m:oMath>
                </a14:m>
                <a:r>
                  <a:rPr lang="en-US"/>
                  <a:t> values is accounted for via other conservative assumptions + the application of the 5°C uncertainty margin</a:t>
                </a:r>
              </a:p>
              <a:p>
                <a:r>
                  <a:rPr lang="en-US"/>
                  <a:t>Components with low power dissipations (≤ 0.095 W) not explicitly modeled unless contributing to a local hot spot (i.e. close in proximity to a high-dissipation component or several other low-dissipation components)</a:t>
                </a:r>
              </a:p>
              <a:p>
                <a:pPr lvl="1"/>
                <a:r>
                  <a:rPr lang="en-US"/>
                  <a:t>Power dissipations of low-dissipation components not modeled are applied as heat spread across the PCB</a:t>
                </a:r>
              </a:p>
              <a:p>
                <a:r>
                  <a:rPr lang="en-US"/>
                  <a:t>No external radiation (conservative for the hot case)</a:t>
                </a:r>
              </a:p>
              <a:p>
                <a:r>
                  <a:rPr lang="en-US"/>
                  <a:t>No junction radiation (conservative for the hot case)</a:t>
                </a:r>
              </a:p>
              <a:p>
                <a:r>
                  <a:rPr lang="en-US"/>
                  <a:t>Component junctions modeled as arithmetic nodes</a:t>
                </a:r>
              </a:p>
              <a:p>
                <a:r>
                  <a:rPr lang="en-US"/>
                  <a:t>Gap pad contact from components to housing modeled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𝐽𝐶</m:t>
                            </m:r>
                          </m:sub>
                        </m:sSub>
                      </m:den>
                    </m:f>
                  </m:oMath>
                </a14:m>
                <a:r>
                  <a:rPr lang="en-US"/>
                  <a:t> (inverse of junction-to-case thermal resistance) in series with gap pad conductance</a:t>
                </a:r>
              </a:p>
              <a:p>
                <a:r>
                  <a:rPr lang="en-US"/>
                  <a:t>Internal radiation included between PCB and internal housing</a:t>
                </a:r>
              </a:p>
              <a:p>
                <a:endParaRPr lang="en-US"/>
              </a:p>
            </p:txBody>
          </p:sp>
        </mc:Choice>
        <mc:Fallback xmlns="">
          <p:sp>
            <p:nvSpPr>
              <p:cNvPr id="2" name="Content Placeholder 1">
                <a:extLst>
                  <a:ext uri="{FF2B5EF4-FFF2-40B4-BE49-F238E27FC236}">
                    <a16:creationId xmlns:a16="http://schemas.microsoft.com/office/drawing/2014/main" id="{15A4093F-0F7D-B49A-757E-D4FD4642E2DB}"/>
                  </a:ext>
                </a:extLst>
              </p:cNvPr>
              <p:cNvSpPr>
                <a:spLocks noGrp="1" noRot="1" noChangeAspect="1" noMove="1" noResize="1" noEditPoints="1" noAdjustHandles="1" noChangeArrowheads="1" noChangeShapeType="1" noTextEdit="1"/>
              </p:cNvSpPr>
              <p:nvPr>
                <p:ph idx="1"/>
              </p:nvPr>
            </p:nvSpPr>
            <p:spPr>
              <a:blipFill>
                <a:blip r:embed="rId2"/>
                <a:stretch>
                  <a:fillRect l="-471" t="-1845" r="-57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C0D4B93-BB87-F47B-83B9-F7F9511FD3E5}"/>
              </a:ext>
            </a:extLst>
          </p:cNvPr>
          <p:cNvSpPr>
            <a:spLocks noGrp="1"/>
          </p:cNvSpPr>
          <p:nvPr>
            <p:ph type="title"/>
          </p:nvPr>
        </p:nvSpPr>
        <p:spPr/>
        <p:txBody>
          <a:bodyPr/>
          <a:lstStyle/>
          <a:p>
            <a:r>
              <a:rPr lang="en-US"/>
              <a:t>Assumptions</a:t>
            </a:r>
          </a:p>
        </p:txBody>
      </p:sp>
      <p:sp>
        <p:nvSpPr>
          <p:cNvPr id="4" name="Date Placeholder 3">
            <a:extLst>
              <a:ext uri="{FF2B5EF4-FFF2-40B4-BE49-F238E27FC236}">
                <a16:creationId xmlns:a16="http://schemas.microsoft.com/office/drawing/2014/main" id="{0D642159-46A6-E2D7-FF90-24FA31103B0C}"/>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7172460B-C0C5-3618-02FC-CA6A57AF6542}"/>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0F534DE0-37F1-EA70-1757-EA445D882378}"/>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3</a:t>
            </a:fld>
            <a:endParaRPr lang="de-DE"/>
          </a:p>
        </p:txBody>
      </p:sp>
    </p:spTree>
    <p:extLst>
      <p:ext uri="{BB962C8B-B14F-4D97-AF65-F5344CB8AC3E}">
        <p14:creationId xmlns:p14="http://schemas.microsoft.com/office/powerpoint/2010/main" val="3026325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15C9EE-15B9-397D-A25B-FE363A2C3A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84909" y="3094296"/>
            <a:ext cx="2307421" cy="3481370"/>
          </a:xfrm>
          <a:prstGeom prst="rect">
            <a:avLst/>
          </a:prstGeom>
        </p:spPr>
      </p:pic>
      <p:pic>
        <p:nvPicPr>
          <p:cNvPr id="8" name="Picture 7">
            <a:extLst>
              <a:ext uri="{FF2B5EF4-FFF2-40B4-BE49-F238E27FC236}">
                <a16:creationId xmlns:a16="http://schemas.microsoft.com/office/drawing/2014/main" id="{6AC611FE-4AB2-015D-7289-355364F09A30}"/>
              </a:ext>
            </a:extLst>
          </p:cNvPr>
          <p:cNvPicPr>
            <a:picLocks noChangeAspect="1"/>
          </p:cNvPicPr>
          <p:nvPr/>
        </p:nvPicPr>
        <p:blipFill>
          <a:blip r:embed="rId3"/>
          <a:stretch>
            <a:fillRect/>
          </a:stretch>
        </p:blipFill>
        <p:spPr>
          <a:xfrm>
            <a:off x="7020938" y="3192011"/>
            <a:ext cx="2141376" cy="3257574"/>
          </a:xfrm>
          <a:prstGeom prst="rect">
            <a:avLst/>
          </a:prstGeom>
        </p:spPr>
      </p:pic>
      <p:pic>
        <p:nvPicPr>
          <p:cNvPr id="9" name="Picture 8">
            <a:extLst>
              <a:ext uri="{FF2B5EF4-FFF2-40B4-BE49-F238E27FC236}">
                <a16:creationId xmlns:a16="http://schemas.microsoft.com/office/drawing/2014/main" id="{167595C9-1DBA-92A7-1586-9AB7D0370A0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36559" y="3095538"/>
            <a:ext cx="2052594" cy="3348226"/>
          </a:xfrm>
          <a:prstGeom prst="rect">
            <a:avLst/>
          </a:prstGeom>
        </p:spPr>
      </p:pic>
      <p:pic>
        <p:nvPicPr>
          <p:cNvPr id="10" name="Picture 9">
            <a:extLst>
              <a:ext uri="{FF2B5EF4-FFF2-40B4-BE49-F238E27FC236}">
                <a16:creationId xmlns:a16="http://schemas.microsoft.com/office/drawing/2014/main" id="{6CDAC9BD-E4B1-355B-D6F8-98B327CD972D}"/>
              </a:ext>
            </a:extLst>
          </p:cNvPr>
          <p:cNvPicPr>
            <a:picLocks noChangeAspect="1"/>
          </p:cNvPicPr>
          <p:nvPr/>
        </p:nvPicPr>
        <p:blipFill>
          <a:blip r:embed="rId5"/>
          <a:stretch>
            <a:fillRect/>
          </a:stretch>
        </p:blipFill>
        <p:spPr>
          <a:xfrm>
            <a:off x="9604977" y="3192008"/>
            <a:ext cx="1879551" cy="3257575"/>
          </a:xfrm>
          <a:prstGeom prst="rect">
            <a:avLst/>
          </a:prstGeom>
        </p:spPr>
      </p:pic>
      <p:sp>
        <p:nvSpPr>
          <p:cNvPr id="2" name="Content Placeholder 1">
            <a:extLst>
              <a:ext uri="{FF2B5EF4-FFF2-40B4-BE49-F238E27FC236}">
                <a16:creationId xmlns:a16="http://schemas.microsoft.com/office/drawing/2014/main" id="{3E822A10-8EB1-0D54-D11D-E6EA53C765FA}"/>
              </a:ext>
            </a:extLst>
          </p:cNvPr>
          <p:cNvSpPr>
            <a:spLocks noGrp="1"/>
          </p:cNvSpPr>
          <p:nvPr>
            <p:ph idx="1"/>
          </p:nvPr>
        </p:nvSpPr>
        <p:spPr>
          <a:xfrm>
            <a:off x="273480" y="1174460"/>
            <a:ext cx="11645038" cy="5216572"/>
          </a:xfrm>
        </p:spPr>
        <p:txBody>
          <a:bodyPr/>
          <a:lstStyle/>
          <a:p>
            <a:r>
              <a:rPr lang="en-US"/>
              <a:t>Density multipliers utilized to match Thermal Desktop mass to CAD</a:t>
            </a:r>
          </a:p>
          <a:p>
            <a:pPr lvl="1"/>
            <a:r>
              <a:rPr lang="en-US"/>
              <a:t>Top Housing: 0.933 </a:t>
            </a:r>
            <a:r>
              <a:rPr lang="en-US">
                <a:sym typeface="Wingdings" panose="05000000000000000000" pitchFamily="2" charset="2"/>
              </a:rPr>
              <a:t> mass of 742.70 g = CAD mass</a:t>
            </a:r>
            <a:endParaRPr lang="en-US"/>
          </a:p>
          <a:p>
            <a:pPr lvl="1"/>
            <a:r>
              <a:rPr lang="en-US"/>
              <a:t>Bottom Housing: 1.08 </a:t>
            </a:r>
            <a:r>
              <a:rPr lang="en-US">
                <a:sym typeface="Wingdings" panose="05000000000000000000" pitchFamily="2" charset="2"/>
              </a:rPr>
              <a:t> mass of 971.80 g = CAD mass</a:t>
            </a:r>
            <a:endParaRPr lang="en-US"/>
          </a:p>
          <a:p>
            <a:pPr lvl="1"/>
            <a:r>
              <a:rPr lang="en-US"/>
              <a:t>PCB (board): 0.293 </a:t>
            </a:r>
            <a:r>
              <a:rPr lang="en-US">
                <a:sym typeface="Wingdings" panose="05000000000000000000" pitchFamily="2" charset="2"/>
              </a:rPr>
              <a:t> mass of 88.82 g = CAD mass</a:t>
            </a:r>
          </a:p>
          <a:p>
            <a:r>
              <a:rPr lang="en-US">
                <a:sym typeface="Wingdings" panose="05000000000000000000" pitchFamily="2" charset="2"/>
              </a:rPr>
              <a:t>Note that increase to rib heights in CAD is not reflected in the thermal model. This design change would have marginally beneficial thermal impacts, so model updates to account for this design change are not necessary</a:t>
            </a:r>
          </a:p>
        </p:txBody>
      </p:sp>
      <p:sp>
        <p:nvSpPr>
          <p:cNvPr id="3" name="Title 2">
            <a:extLst>
              <a:ext uri="{FF2B5EF4-FFF2-40B4-BE49-F238E27FC236}">
                <a16:creationId xmlns:a16="http://schemas.microsoft.com/office/drawing/2014/main" id="{F4DE843B-FCE4-7333-4B53-2DC297110311}"/>
              </a:ext>
            </a:extLst>
          </p:cNvPr>
          <p:cNvSpPr>
            <a:spLocks noGrp="1"/>
          </p:cNvSpPr>
          <p:nvPr>
            <p:ph type="title"/>
          </p:nvPr>
        </p:nvSpPr>
        <p:spPr/>
        <p:txBody>
          <a:bodyPr/>
          <a:lstStyle/>
          <a:p>
            <a:r>
              <a:rPr lang="en-US"/>
              <a:t>Thermal Model vs CAD</a:t>
            </a:r>
          </a:p>
        </p:txBody>
      </p:sp>
      <p:sp>
        <p:nvSpPr>
          <p:cNvPr id="4" name="Date Placeholder 3">
            <a:extLst>
              <a:ext uri="{FF2B5EF4-FFF2-40B4-BE49-F238E27FC236}">
                <a16:creationId xmlns:a16="http://schemas.microsoft.com/office/drawing/2014/main" id="{88DDAB54-0F8C-D8AE-B153-8FA059E26A3C}"/>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DB47B925-2360-CE9F-5016-ECE6C26CF9DE}"/>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333AFEBB-216F-D1CB-E484-274DDD33D415}"/>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4</a:t>
            </a:fld>
            <a:endParaRPr lang="de-DE"/>
          </a:p>
        </p:txBody>
      </p:sp>
    </p:spTree>
    <p:extLst>
      <p:ext uri="{BB962C8B-B14F-4D97-AF65-F5344CB8AC3E}">
        <p14:creationId xmlns:p14="http://schemas.microsoft.com/office/powerpoint/2010/main" val="3658781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E25ACE-64A6-D2F5-5E28-0916FD4E4C29}"/>
              </a:ext>
            </a:extLst>
          </p:cNvPr>
          <p:cNvSpPr>
            <a:spLocks noGrp="1"/>
          </p:cNvSpPr>
          <p:nvPr>
            <p:ph idx="1"/>
          </p:nvPr>
        </p:nvSpPr>
        <p:spPr>
          <a:xfrm>
            <a:off x="273480" y="1079494"/>
            <a:ext cx="11645038" cy="5311538"/>
          </a:xfrm>
        </p:spPr>
        <p:txBody>
          <a:bodyPr/>
          <a:lstStyle/>
          <a:p>
            <a:r>
              <a:rPr lang="en-US"/>
              <a:t>All housing is Aluminum 7050</a:t>
            </a:r>
          </a:p>
          <a:p>
            <a:r>
              <a:rPr lang="en-US"/>
              <a:t>Components are modeled as arithmetic node junctions, so material is irrelevant</a:t>
            </a:r>
          </a:p>
        </p:txBody>
      </p:sp>
      <p:sp>
        <p:nvSpPr>
          <p:cNvPr id="3" name="Title 2">
            <a:extLst>
              <a:ext uri="{FF2B5EF4-FFF2-40B4-BE49-F238E27FC236}">
                <a16:creationId xmlns:a16="http://schemas.microsoft.com/office/drawing/2014/main" id="{EF2F4D7F-9860-DE76-83F1-2569EB56BB4C}"/>
              </a:ext>
            </a:extLst>
          </p:cNvPr>
          <p:cNvSpPr>
            <a:spLocks noGrp="1"/>
          </p:cNvSpPr>
          <p:nvPr>
            <p:ph type="title"/>
          </p:nvPr>
        </p:nvSpPr>
        <p:spPr/>
        <p:txBody>
          <a:bodyPr/>
          <a:lstStyle/>
          <a:p>
            <a:r>
              <a:rPr lang="en-US"/>
              <a:t>Thermophysical Properties</a:t>
            </a:r>
          </a:p>
        </p:txBody>
      </p:sp>
      <p:sp>
        <p:nvSpPr>
          <p:cNvPr id="4" name="Date Placeholder 3">
            <a:extLst>
              <a:ext uri="{FF2B5EF4-FFF2-40B4-BE49-F238E27FC236}">
                <a16:creationId xmlns:a16="http://schemas.microsoft.com/office/drawing/2014/main" id="{0CC231AB-F97D-1515-6046-B0EB4EDF6F0F}"/>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8247232F-6300-43EB-6CA9-A6C3325DB686}"/>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E95C320A-9DDF-55EF-E430-967103141A5E}"/>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5</a:t>
            </a:fld>
            <a:endParaRPr lang="de-DE"/>
          </a:p>
        </p:txBody>
      </p:sp>
      <p:pic>
        <p:nvPicPr>
          <p:cNvPr id="9" name="Picture 8">
            <a:extLst>
              <a:ext uri="{FF2B5EF4-FFF2-40B4-BE49-F238E27FC236}">
                <a16:creationId xmlns:a16="http://schemas.microsoft.com/office/drawing/2014/main" id="{059107C6-BFC0-1F06-7EE4-C829337177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30033" y="2138601"/>
            <a:ext cx="2293154" cy="4012301"/>
          </a:xfrm>
          <a:prstGeom prst="rect">
            <a:avLst/>
          </a:prstGeom>
        </p:spPr>
      </p:pic>
      <p:pic>
        <p:nvPicPr>
          <p:cNvPr id="10" name="Picture 9">
            <a:extLst>
              <a:ext uri="{FF2B5EF4-FFF2-40B4-BE49-F238E27FC236}">
                <a16:creationId xmlns:a16="http://schemas.microsoft.com/office/drawing/2014/main" id="{26459DC3-4923-D55C-09B3-30AA3563821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405647" y="2129685"/>
            <a:ext cx="2301494" cy="4023308"/>
          </a:xfrm>
          <a:prstGeom prst="rect">
            <a:avLst/>
          </a:prstGeom>
        </p:spPr>
      </p:pic>
      <p:pic>
        <p:nvPicPr>
          <p:cNvPr id="14" name="Picture 13">
            <a:extLst>
              <a:ext uri="{FF2B5EF4-FFF2-40B4-BE49-F238E27FC236}">
                <a16:creationId xmlns:a16="http://schemas.microsoft.com/office/drawing/2014/main" id="{6F2C24E5-679D-CA81-57E0-E2A5F3B536F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69435" y="56480"/>
            <a:ext cx="1880901" cy="952546"/>
          </a:xfrm>
          <a:prstGeom prst="rect">
            <a:avLst/>
          </a:prstGeom>
        </p:spPr>
      </p:pic>
      <p:pic>
        <p:nvPicPr>
          <p:cNvPr id="16" name="Picture 15">
            <a:extLst>
              <a:ext uri="{FF2B5EF4-FFF2-40B4-BE49-F238E27FC236}">
                <a16:creationId xmlns:a16="http://schemas.microsoft.com/office/drawing/2014/main" id="{CD38C066-FBBF-D60C-4BCC-A50A3139AE09}"/>
              </a:ext>
            </a:extLst>
          </p:cNvPr>
          <p:cNvPicPr>
            <a:picLocks noChangeAspect="1"/>
          </p:cNvPicPr>
          <p:nvPr/>
        </p:nvPicPr>
        <p:blipFill>
          <a:blip r:embed="rId5"/>
          <a:stretch>
            <a:fillRect/>
          </a:stretch>
        </p:blipFill>
        <p:spPr>
          <a:xfrm>
            <a:off x="195568" y="2129685"/>
            <a:ext cx="2905668" cy="4286774"/>
          </a:xfrm>
          <a:prstGeom prst="rect">
            <a:avLst/>
          </a:prstGeom>
        </p:spPr>
      </p:pic>
      <p:pic>
        <p:nvPicPr>
          <p:cNvPr id="18" name="Picture 17">
            <a:extLst>
              <a:ext uri="{FF2B5EF4-FFF2-40B4-BE49-F238E27FC236}">
                <a16:creationId xmlns:a16="http://schemas.microsoft.com/office/drawing/2014/main" id="{15840D1B-605B-362D-A747-6B1EE33B353F}"/>
              </a:ext>
            </a:extLst>
          </p:cNvPr>
          <p:cNvPicPr>
            <a:picLocks noChangeAspect="1"/>
          </p:cNvPicPr>
          <p:nvPr/>
        </p:nvPicPr>
        <p:blipFill>
          <a:blip r:embed="rId6"/>
          <a:stretch>
            <a:fillRect/>
          </a:stretch>
        </p:blipFill>
        <p:spPr>
          <a:xfrm>
            <a:off x="6374375" y="2126272"/>
            <a:ext cx="2646961" cy="4244731"/>
          </a:xfrm>
          <a:prstGeom prst="rect">
            <a:avLst/>
          </a:prstGeom>
        </p:spPr>
      </p:pic>
      <p:sp>
        <p:nvSpPr>
          <p:cNvPr id="19" name="TextBox 18">
            <a:extLst>
              <a:ext uri="{FF2B5EF4-FFF2-40B4-BE49-F238E27FC236}">
                <a16:creationId xmlns:a16="http://schemas.microsoft.com/office/drawing/2014/main" id="{BD093C62-5148-161E-C261-A20D92A3323C}"/>
              </a:ext>
            </a:extLst>
          </p:cNvPr>
          <p:cNvSpPr txBox="1"/>
          <p:nvPr/>
        </p:nvSpPr>
        <p:spPr>
          <a:xfrm>
            <a:off x="540942" y="1884116"/>
            <a:ext cx="2496936" cy="307777"/>
          </a:xfrm>
          <a:prstGeom prst="rect">
            <a:avLst/>
          </a:prstGeom>
          <a:noFill/>
        </p:spPr>
        <p:txBody>
          <a:bodyPr wrap="square">
            <a:spAutoFit/>
          </a:bodyPr>
          <a:lstStyle/>
          <a:p>
            <a:pPr algn="ctr"/>
            <a:r>
              <a:rPr lang="en-US" sz="1400"/>
              <a:t>Top Housing Hidden</a:t>
            </a:r>
          </a:p>
        </p:txBody>
      </p:sp>
      <p:sp>
        <p:nvSpPr>
          <p:cNvPr id="20" name="TextBox 19">
            <a:extLst>
              <a:ext uri="{FF2B5EF4-FFF2-40B4-BE49-F238E27FC236}">
                <a16:creationId xmlns:a16="http://schemas.microsoft.com/office/drawing/2014/main" id="{5A40B564-9936-C40D-A697-19C5F044C343}"/>
              </a:ext>
            </a:extLst>
          </p:cNvPr>
          <p:cNvSpPr txBox="1"/>
          <p:nvPr/>
        </p:nvSpPr>
        <p:spPr>
          <a:xfrm>
            <a:off x="3230033" y="1858689"/>
            <a:ext cx="2293154" cy="307777"/>
          </a:xfrm>
          <a:prstGeom prst="rect">
            <a:avLst/>
          </a:prstGeom>
          <a:noFill/>
        </p:spPr>
        <p:txBody>
          <a:bodyPr wrap="square">
            <a:spAutoFit/>
          </a:bodyPr>
          <a:lstStyle/>
          <a:p>
            <a:pPr algn="ctr"/>
            <a:r>
              <a:rPr lang="en-US" sz="1400"/>
              <a:t>PCB Top</a:t>
            </a:r>
          </a:p>
        </p:txBody>
      </p:sp>
      <p:sp>
        <p:nvSpPr>
          <p:cNvPr id="21" name="TextBox 20">
            <a:extLst>
              <a:ext uri="{FF2B5EF4-FFF2-40B4-BE49-F238E27FC236}">
                <a16:creationId xmlns:a16="http://schemas.microsoft.com/office/drawing/2014/main" id="{2B2778D6-C76D-A79F-E43A-253C991C4863}"/>
              </a:ext>
            </a:extLst>
          </p:cNvPr>
          <p:cNvSpPr txBox="1"/>
          <p:nvPr/>
        </p:nvSpPr>
        <p:spPr>
          <a:xfrm>
            <a:off x="9437614" y="1845624"/>
            <a:ext cx="2213444" cy="307777"/>
          </a:xfrm>
          <a:prstGeom prst="rect">
            <a:avLst/>
          </a:prstGeom>
          <a:noFill/>
        </p:spPr>
        <p:txBody>
          <a:bodyPr wrap="square">
            <a:spAutoFit/>
          </a:bodyPr>
          <a:lstStyle/>
          <a:p>
            <a:pPr algn="ctr"/>
            <a:r>
              <a:rPr lang="en-US" sz="1400"/>
              <a:t>PCB Bottom</a:t>
            </a:r>
          </a:p>
        </p:txBody>
      </p:sp>
      <p:sp>
        <p:nvSpPr>
          <p:cNvPr id="22" name="TextBox 21">
            <a:extLst>
              <a:ext uri="{FF2B5EF4-FFF2-40B4-BE49-F238E27FC236}">
                <a16:creationId xmlns:a16="http://schemas.microsoft.com/office/drawing/2014/main" id="{513DB3A4-F776-2A16-EDB8-7FA94A91E710}"/>
              </a:ext>
            </a:extLst>
          </p:cNvPr>
          <p:cNvSpPr txBox="1"/>
          <p:nvPr/>
        </p:nvSpPr>
        <p:spPr>
          <a:xfrm>
            <a:off x="6494304" y="1858689"/>
            <a:ext cx="2406415" cy="307777"/>
          </a:xfrm>
          <a:prstGeom prst="rect">
            <a:avLst/>
          </a:prstGeom>
          <a:noFill/>
        </p:spPr>
        <p:txBody>
          <a:bodyPr wrap="square">
            <a:spAutoFit/>
          </a:bodyPr>
          <a:lstStyle/>
          <a:p>
            <a:pPr algn="ctr"/>
            <a:r>
              <a:rPr lang="en-US" sz="1400"/>
              <a:t>Bottom Housing Hidden</a:t>
            </a:r>
          </a:p>
        </p:txBody>
      </p:sp>
      <p:cxnSp>
        <p:nvCxnSpPr>
          <p:cNvPr id="24" name="Straight Connector 23">
            <a:extLst>
              <a:ext uri="{FF2B5EF4-FFF2-40B4-BE49-F238E27FC236}">
                <a16:creationId xmlns:a16="http://schemas.microsoft.com/office/drawing/2014/main" id="{CA85AD69-3B2D-98DA-C689-4C8A04F79A62}"/>
              </a:ext>
            </a:extLst>
          </p:cNvPr>
          <p:cNvCxnSpPr>
            <a:cxnSpLocks/>
          </p:cNvCxnSpPr>
          <p:nvPr/>
        </p:nvCxnSpPr>
        <p:spPr>
          <a:xfrm>
            <a:off x="6048462" y="2153401"/>
            <a:ext cx="47538" cy="4034268"/>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6405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0C4FC2-2877-3CB8-5206-1C81BFED480F}"/>
              </a:ext>
            </a:extLst>
          </p:cNvPr>
          <p:cNvSpPr>
            <a:spLocks noGrp="1"/>
          </p:cNvSpPr>
          <p:nvPr>
            <p:ph idx="1"/>
          </p:nvPr>
        </p:nvSpPr>
        <p:spPr>
          <a:xfrm>
            <a:off x="273481" y="1331246"/>
            <a:ext cx="3891549" cy="5059785"/>
          </a:xfrm>
        </p:spPr>
        <p:txBody>
          <a:bodyPr/>
          <a:lstStyle/>
          <a:p>
            <a:r>
              <a:rPr lang="en-US"/>
              <a:t>PCB </a:t>
            </a:r>
            <a:r>
              <a:rPr lang="en-US" err="1"/>
              <a:t>stackup</a:t>
            </a:r>
            <a:r>
              <a:rPr lang="en-US"/>
              <a:t> in Thermal Desktop follows the </a:t>
            </a:r>
            <a:r>
              <a:rPr lang="en-US" err="1"/>
              <a:t>stackup</a:t>
            </a:r>
            <a:r>
              <a:rPr lang="en-US"/>
              <a:t> provided by EE. Outer copper layers are neglected for conservatism (reduces thermal conductivity)</a:t>
            </a:r>
          </a:p>
          <a:p>
            <a:r>
              <a:rPr lang="en-US"/>
              <a:t>Density multiplier of 0.29 applied in Thermal Desktop to match the CAD-prescribed board mass of 88.82 g</a:t>
            </a:r>
          </a:p>
          <a:p>
            <a:r>
              <a:rPr lang="en-US"/>
              <a:t>Z is the through-thickness axis</a:t>
            </a:r>
          </a:p>
        </p:txBody>
      </p:sp>
      <p:sp>
        <p:nvSpPr>
          <p:cNvPr id="3" name="Title 2">
            <a:extLst>
              <a:ext uri="{FF2B5EF4-FFF2-40B4-BE49-F238E27FC236}">
                <a16:creationId xmlns:a16="http://schemas.microsoft.com/office/drawing/2014/main" id="{D2DE73FE-DACE-FEF1-99BE-FA168E711531}"/>
              </a:ext>
            </a:extLst>
          </p:cNvPr>
          <p:cNvSpPr>
            <a:spLocks noGrp="1"/>
          </p:cNvSpPr>
          <p:nvPr>
            <p:ph type="title"/>
          </p:nvPr>
        </p:nvSpPr>
        <p:spPr/>
        <p:txBody>
          <a:bodyPr>
            <a:normAutofit/>
          </a:bodyPr>
          <a:lstStyle/>
          <a:p>
            <a:r>
              <a:rPr lang="en-US"/>
              <a:t>Thermophysical Properties: PCB </a:t>
            </a:r>
            <a:r>
              <a:rPr lang="en-US" err="1"/>
              <a:t>Stackup</a:t>
            </a:r>
            <a:endParaRPr lang="en-US"/>
          </a:p>
        </p:txBody>
      </p:sp>
      <p:sp>
        <p:nvSpPr>
          <p:cNvPr id="4" name="Date Placeholder 3">
            <a:extLst>
              <a:ext uri="{FF2B5EF4-FFF2-40B4-BE49-F238E27FC236}">
                <a16:creationId xmlns:a16="http://schemas.microsoft.com/office/drawing/2014/main" id="{9D53058B-356E-2381-71FE-E86C0DE63434}"/>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ADE707E0-D344-7773-8FD4-31798C366B1B}"/>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05199F74-912E-C8E8-EA2E-9520E67CDB20}"/>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6</a:t>
            </a:fld>
            <a:endParaRPr lang="de-DE"/>
          </a:p>
        </p:txBody>
      </p:sp>
      <p:pic>
        <p:nvPicPr>
          <p:cNvPr id="12" name="Picture 11">
            <a:extLst>
              <a:ext uri="{FF2B5EF4-FFF2-40B4-BE49-F238E27FC236}">
                <a16:creationId xmlns:a16="http://schemas.microsoft.com/office/drawing/2014/main" id="{8E09651A-E8AB-25A6-7648-C8E5C302AF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6971" y="1126395"/>
            <a:ext cx="3896582" cy="609070"/>
          </a:xfrm>
          <a:prstGeom prst="rect">
            <a:avLst/>
          </a:prstGeom>
        </p:spPr>
      </p:pic>
      <p:pic>
        <p:nvPicPr>
          <p:cNvPr id="15" name="Picture 14">
            <a:extLst>
              <a:ext uri="{FF2B5EF4-FFF2-40B4-BE49-F238E27FC236}">
                <a16:creationId xmlns:a16="http://schemas.microsoft.com/office/drawing/2014/main" id="{8950D0FA-8305-1624-FCF2-FAC6D0FFB22C}"/>
              </a:ext>
            </a:extLst>
          </p:cNvPr>
          <p:cNvPicPr>
            <a:picLocks noChangeAspect="1"/>
          </p:cNvPicPr>
          <p:nvPr/>
        </p:nvPicPr>
        <p:blipFill>
          <a:blip r:embed="rId3"/>
          <a:stretch>
            <a:fillRect/>
          </a:stretch>
        </p:blipFill>
        <p:spPr>
          <a:xfrm>
            <a:off x="4165030" y="1565575"/>
            <a:ext cx="3695843" cy="4690810"/>
          </a:xfrm>
          <a:prstGeom prst="rect">
            <a:avLst/>
          </a:prstGeom>
        </p:spPr>
      </p:pic>
      <p:pic>
        <p:nvPicPr>
          <p:cNvPr id="26" name="Picture 25">
            <a:extLst>
              <a:ext uri="{FF2B5EF4-FFF2-40B4-BE49-F238E27FC236}">
                <a16:creationId xmlns:a16="http://schemas.microsoft.com/office/drawing/2014/main" id="{B2B8EA1F-3826-F2A9-17D5-1AB0A305FC5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14451" y="4533771"/>
            <a:ext cx="2409608" cy="1722614"/>
          </a:xfrm>
          <a:prstGeom prst="rect">
            <a:avLst/>
          </a:prstGeom>
        </p:spPr>
      </p:pic>
      <p:grpSp>
        <p:nvGrpSpPr>
          <p:cNvPr id="21" name="Group 20">
            <a:extLst>
              <a:ext uri="{FF2B5EF4-FFF2-40B4-BE49-F238E27FC236}">
                <a16:creationId xmlns:a16="http://schemas.microsoft.com/office/drawing/2014/main" id="{BB4A1175-7527-6AED-74AD-86FB4EF3331D}"/>
              </a:ext>
            </a:extLst>
          </p:cNvPr>
          <p:cNvGrpSpPr/>
          <p:nvPr/>
        </p:nvGrpSpPr>
        <p:grpSpPr>
          <a:xfrm>
            <a:off x="7960747" y="1783025"/>
            <a:ext cx="4029030" cy="4725114"/>
            <a:chOff x="7991373" y="1782367"/>
            <a:chExt cx="4088894" cy="4795320"/>
          </a:xfrm>
        </p:grpSpPr>
        <p:pic>
          <p:nvPicPr>
            <p:cNvPr id="16" name="Picture 15">
              <a:extLst>
                <a:ext uri="{FF2B5EF4-FFF2-40B4-BE49-F238E27FC236}">
                  <a16:creationId xmlns:a16="http://schemas.microsoft.com/office/drawing/2014/main" id="{86512A7A-80E2-A8DA-065B-9592671AC1E7}"/>
                </a:ext>
              </a:extLst>
            </p:cNvPr>
            <p:cNvPicPr>
              <a:picLocks noChangeAspect="1"/>
            </p:cNvPicPr>
            <p:nvPr/>
          </p:nvPicPr>
          <p:blipFill>
            <a:blip r:embed="rId5"/>
            <a:stretch>
              <a:fillRect/>
            </a:stretch>
          </p:blipFill>
          <p:spPr>
            <a:xfrm>
              <a:off x="7991373" y="1782367"/>
              <a:ext cx="4088894" cy="3517801"/>
            </a:xfrm>
            <a:prstGeom prst="rect">
              <a:avLst/>
            </a:prstGeom>
          </p:spPr>
        </p:pic>
        <p:pic>
          <p:nvPicPr>
            <p:cNvPr id="18" name="Picture 17">
              <a:extLst>
                <a:ext uri="{FF2B5EF4-FFF2-40B4-BE49-F238E27FC236}">
                  <a16:creationId xmlns:a16="http://schemas.microsoft.com/office/drawing/2014/main" id="{C451AFF0-8F06-0D85-848B-E9E6EEA3A072}"/>
                </a:ext>
              </a:extLst>
            </p:cNvPr>
            <p:cNvPicPr>
              <a:picLocks noChangeAspect="1"/>
            </p:cNvPicPr>
            <p:nvPr/>
          </p:nvPicPr>
          <p:blipFill>
            <a:blip r:embed="rId6"/>
            <a:srcRect t="56406"/>
            <a:stretch/>
          </p:blipFill>
          <p:spPr>
            <a:xfrm>
              <a:off x="8011649" y="5025005"/>
              <a:ext cx="4068618" cy="1552682"/>
            </a:xfrm>
            <a:prstGeom prst="rect">
              <a:avLst/>
            </a:prstGeom>
          </p:spPr>
        </p:pic>
      </p:grpSp>
    </p:spTree>
    <p:extLst>
      <p:ext uri="{BB962C8B-B14F-4D97-AF65-F5344CB8AC3E}">
        <p14:creationId xmlns:p14="http://schemas.microsoft.com/office/powerpoint/2010/main" val="2857157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7629FAC-5388-903F-F813-9FE3243CAB9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08642" y="1196601"/>
            <a:ext cx="3652209" cy="5372032"/>
          </a:xfrm>
          <a:prstGeom prst="rect">
            <a:avLst/>
          </a:prstGeom>
        </p:spPr>
      </p:pic>
      <p:sp>
        <p:nvSpPr>
          <p:cNvPr id="2" name="Content Placeholder 1">
            <a:extLst>
              <a:ext uri="{FF2B5EF4-FFF2-40B4-BE49-F238E27FC236}">
                <a16:creationId xmlns:a16="http://schemas.microsoft.com/office/drawing/2014/main" id="{E35A0E9A-5E59-02EB-0701-79397A4C6BE2}"/>
              </a:ext>
            </a:extLst>
          </p:cNvPr>
          <p:cNvSpPr>
            <a:spLocks noGrp="1"/>
          </p:cNvSpPr>
          <p:nvPr>
            <p:ph idx="1"/>
          </p:nvPr>
        </p:nvSpPr>
        <p:spPr>
          <a:xfrm>
            <a:off x="273480" y="1430930"/>
            <a:ext cx="8253929" cy="4960101"/>
          </a:xfrm>
        </p:spPr>
        <p:txBody>
          <a:bodyPr/>
          <a:lstStyle/>
          <a:p>
            <a:r>
              <a:rPr lang="en-US"/>
              <a:t>All housing surfaces are assigned as Alodine 1200</a:t>
            </a:r>
          </a:p>
          <a:p>
            <a:r>
              <a:rPr lang="en-US"/>
              <a:t>Component junctions are not included in radiation, so their optical properties are left as DEFAULT </a:t>
            </a:r>
          </a:p>
        </p:txBody>
      </p:sp>
      <p:sp>
        <p:nvSpPr>
          <p:cNvPr id="3" name="Title 2">
            <a:extLst>
              <a:ext uri="{FF2B5EF4-FFF2-40B4-BE49-F238E27FC236}">
                <a16:creationId xmlns:a16="http://schemas.microsoft.com/office/drawing/2014/main" id="{1E1A9385-9DCD-0CA0-6064-4F7951799A2A}"/>
              </a:ext>
            </a:extLst>
          </p:cNvPr>
          <p:cNvSpPr>
            <a:spLocks noGrp="1"/>
          </p:cNvSpPr>
          <p:nvPr>
            <p:ph type="title"/>
          </p:nvPr>
        </p:nvSpPr>
        <p:spPr/>
        <p:txBody>
          <a:bodyPr/>
          <a:lstStyle/>
          <a:p>
            <a:r>
              <a:rPr lang="en-US"/>
              <a:t>Optical Properties</a:t>
            </a:r>
          </a:p>
        </p:txBody>
      </p:sp>
      <p:sp>
        <p:nvSpPr>
          <p:cNvPr id="4" name="Date Placeholder 3">
            <a:extLst>
              <a:ext uri="{FF2B5EF4-FFF2-40B4-BE49-F238E27FC236}">
                <a16:creationId xmlns:a16="http://schemas.microsoft.com/office/drawing/2014/main" id="{028CB7DF-C009-F476-38AB-6127B0DE8BC5}"/>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BAB10F0F-948C-9465-B046-E6832EB9311D}"/>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C3D76646-D601-1068-E00E-DB7D7EA9FE9C}"/>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7</a:t>
            </a:fld>
            <a:endParaRPr lang="de-DE"/>
          </a:p>
        </p:txBody>
      </p:sp>
      <p:pic>
        <p:nvPicPr>
          <p:cNvPr id="10" name="Picture 9">
            <a:extLst>
              <a:ext uri="{FF2B5EF4-FFF2-40B4-BE49-F238E27FC236}">
                <a16:creationId xmlns:a16="http://schemas.microsoft.com/office/drawing/2014/main" id="{30D6E8DF-52E2-0834-A03D-D9E232BBD187}"/>
              </a:ext>
            </a:extLst>
          </p:cNvPr>
          <p:cNvPicPr>
            <a:picLocks noChangeAspect="1"/>
          </p:cNvPicPr>
          <p:nvPr/>
        </p:nvPicPr>
        <p:blipFill>
          <a:blip r:embed="rId3"/>
          <a:stretch>
            <a:fillRect/>
          </a:stretch>
        </p:blipFill>
        <p:spPr>
          <a:xfrm>
            <a:off x="10521949" y="155989"/>
            <a:ext cx="1472776" cy="894461"/>
          </a:xfrm>
          <a:prstGeom prst="rect">
            <a:avLst/>
          </a:prstGeom>
        </p:spPr>
      </p:pic>
    </p:spTree>
    <p:extLst>
      <p:ext uri="{BB962C8B-B14F-4D97-AF65-F5344CB8AC3E}">
        <p14:creationId xmlns:p14="http://schemas.microsoft.com/office/powerpoint/2010/main" val="411001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093570-CAEF-5EEF-B2E8-73235C486384}"/>
              </a:ext>
            </a:extLst>
          </p:cNvPr>
          <p:cNvSpPr>
            <a:spLocks noGrp="1"/>
          </p:cNvSpPr>
          <p:nvPr>
            <p:ph type="title"/>
          </p:nvPr>
        </p:nvSpPr>
        <p:spPr/>
        <p:txBody>
          <a:bodyPr>
            <a:normAutofit fontScale="90000"/>
          </a:bodyPr>
          <a:lstStyle/>
          <a:p>
            <a:r>
              <a:rPr lang="en-US"/>
              <a:t>Heat Loads, Thermal Resistances, and Temperature Limits</a:t>
            </a:r>
          </a:p>
        </p:txBody>
      </p:sp>
      <p:sp>
        <p:nvSpPr>
          <p:cNvPr id="4" name="Date Placeholder 3">
            <a:extLst>
              <a:ext uri="{FF2B5EF4-FFF2-40B4-BE49-F238E27FC236}">
                <a16:creationId xmlns:a16="http://schemas.microsoft.com/office/drawing/2014/main" id="{69C91214-BABF-6A75-3733-050113CECC6D}"/>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75A32E21-1754-53B7-867F-FC62A4400865}"/>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F9DB0407-3449-54EA-E201-D518AC741EA3}"/>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8</a:t>
            </a:fld>
            <a:endParaRPr lang="de-DE"/>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ECAE9073-85C4-F440-9BEF-61233FEFA6C9}"/>
                  </a:ext>
                </a:extLst>
              </p:cNvPr>
              <p:cNvSpPr>
                <a:spLocks noGrp="1"/>
              </p:cNvSpPr>
              <p:nvPr>
                <p:ph idx="1"/>
              </p:nvPr>
            </p:nvSpPr>
            <p:spPr>
              <a:xfrm>
                <a:off x="150079" y="1079494"/>
                <a:ext cx="11900258" cy="5311538"/>
              </a:xfrm>
            </p:spPr>
            <p:txBody>
              <a:bodyPr/>
              <a:lstStyle/>
              <a:p>
                <a:r>
                  <a:rPr lang="en-US" i="1"/>
                  <a:t>PCB Top </a:t>
                </a:r>
                <a:r>
                  <a:rPr lang="en-US"/>
                  <a:t>and </a:t>
                </a:r>
                <a:r>
                  <a:rPr lang="en-US" i="1"/>
                  <a:t>PCB Bottom </a:t>
                </a:r>
                <a:r>
                  <a:rPr lang="en-US"/>
                  <a:t>heat loads are the summed contributions of components not explicitly modeled, but with locations/details specified by EE</a:t>
                </a:r>
              </a:p>
              <a:p>
                <a:r>
                  <a:rPr lang="en-US" i="1"/>
                  <a:t>Spread Across Board </a:t>
                </a:r>
                <a:r>
                  <a:rPr lang="en-US"/>
                  <a:t>heat load was specified by EE, and is split evenly between the top and bottom PCB surfaces</a:t>
                </a:r>
              </a:p>
              <a:p>
                <a:r>
                  <a:rPr lang="en-US"/>
                  <a:t>Red-highlighted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𝐽𝐵</m:t>
                        </m:r>
                      </m:sub>
                    </m:sSub>
                  </m:oMath>
                </a14:m>
                <a:r>
                  <a:rPr lang="en-US"/>
                  <a:t> values are estimates, interpolated based on the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𝐽𝐵</m:t>
                        </m:r>
                      </m:sub>
                    </m:sSub>
                  </m:oMath>
                </a14:m>
                <a:r>
                  <a:rPr lang="en-US"/>
                  <a:t> vs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𝐽</m:t>
                        </m:r>
                        <m:r>
                          <a:rPr lang="en-US" b="0" i="1" smtClean="0">
                            <a:latin typeface="Cambria Math" panose="02040503050406030204" pitchFamily="18" charset="0"/>
                          </a:rPr>
                          <m:t>𝐴</m:t>
                        </m:r>
                      </m:sub>
                    </m:sSub>
                  </m:oMath>
                </a14:m>
                <a:r>
                  <a:rPr lang="en-US"/>
                  <a:t> relationship for components where both values were available</a:t>
                </a:r>
              </a:p>
              <a:p>
                <a:endParaRPr lang="en-US"/>
              </a:p>
            </p:txBody>
          </p:sp>
        </mc:Choice>
        <mc:Fallback xmlns="">
          <p:sp>
            <p:nvSpPr>
              <p:cNvPr id="10" name="Content Placeholder 9">
                <a:extLst>
                  <a:ext uri="{FF2B5EF4-FFF2-40B4-BE49-F238E27FC236}">
                    <a16:creationId xmlns:a16="http://schemas.microsoft.com/office/drawing/2014/main" id="{ECAE9073-85C4-F440-9BEF-61233FEFA6C9}"/>
                  </a:ext>
                </a:extLst>
              </p:cNvPr>
              <p:cNvSpPr>
                <a:spLocks noGrp="1" noRot="1" noChangeAspect="1" noMove="1" noResize="1" noEditPoints="1" noAdjustHandles="1" noChangeArrowheads="1" noChangeShapeType="1" noTextEdit="1"/>
              </p:cNvSpPr>
              <p:nvPr>
                <p:ph idx="1"/>
              </p:nvPr>
            </p:nvSpPr>
            <p:spPr>
              <a:xfrm>
                <a:off x="150079" y="1079494"/>
                <a:ext cx="11900258" cy="5311538"/>
              </a:xfrm>
              <a:blipFill>
                <a:blip r:embed="rId2"/>
                <a:stretch>
                  <a:fillRect l="-461" t="-1148" r="-256"/>
                </a:stretch>
              </a:blipFill>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id="{0C695F65-3D7A-B0C4-ED6E-A900DE8FD91E}"/>
              </a:ext>
            </a:extLst>
          </p:cNvPr>
          <p:cNvGraphicFramePr>
            <a:graphicFrameLocks noGrp="1"/>
          </p:cNvGraphicFramePr>
          <p:nvPr>
            <p:extLst>
              <p:ext uri="{D42A27DB-BD31-4B8C-83A1-F6EECF244321}">
                <p14:modId xmlns:p14="http://schemas.microsoft.com/office/powerpoint/2010/main" val="4063576068"/>
              </p:ext>
            </p:extLst>
          </p:nvPr>
        </p:nvGraphicFramePr>
        <p:xfrm>
          <a:off x="1652023" y="2801218"/>
          <a:ext cx="8887954" cy="3648368"/>
        </p:xfrm>
        <a:graphic>
          <a:graphicData uri="http://schemas.openxmlformats.org/drawingml/2006/table">
            <a:tbl>
              <a:tblPr/>
              <a:tblGrid>
                <a:gridCol w="3018868">
                  <a:extLst>
                    <a:ext uri="{9D8B030D-6E8A-4147-A177-3AD203B41FA5}">
                      <a16:colId xmlns:a16="http://schemas.microsoft.com/office/drawing/2014/main" val="4237245483"/>
                    </a:ext>
                  </a:extLst>
                </a:gridCol>
                <a:gridCol w="843260">
                  <a:extLst>
                    <a:ext uri="{9D8B030D-6E8A-4147-A177-3AD203B41FA5}">
                      <a16:colId xmlns:a16="http://schemas.microsoft.com/office/drawing/2014/main" val="2715767621"/>
                    </a:ext>
                  </a:extLst>
                </a:gridCol>
                <a:gridCol w="843260">
                  <a:extLst>
                    <a:ext uri="{9D8B030D-6E8A-4147-A177-3AD203B41FA5}">
                      <a16:colId xmlns:a16="http://schemas.microsoft.com/office/drawing/2014/main" val="326760686"/>
                    </a:ext>
                  </a:extLst>
                </a:gridCol>
                <a:gridCol w="851692">
                  <a:extLst>
                    <a:ext uri="{9D8B030D-6E8A-4147-A177-3AD203B41FA5}">
                      <a16:colId xmlns:a16="http://schemas.microsoft.com/office/drawing/2014/main" val="2500655476"/>
                    </a:ext>
                  </a:extLst>
                </a:gridCol>
                <a:gridCol w="733635">
                  <a:extLst>
                    <a:ext uri="{9D8B030D-6E8A-4147-A177-3AD203B41FA5}">
                      <a16:colId xmlns:a16="http://schemas.microsoft.com/office/drawing/2014/main" val="2772147070"/>
                    </a:ext>
                  </a:extLst>
                </a:gridCol>
                <a:gridCol w="758934">
                  <a:extLst>
                    <a:ext uri="{9D8B030D-6E8A-4147-A177-3AD203B41FA5}">
                      <a16:colId xmlns:a16="http://schemas.microsoft.com/office/drawing/2014/main" val="3491238579"/>
                    </a:ext>
                  </a:extLst>
                </a:gridCol>
                <a:gridCol w="480657">
                  <a:extLst>
                    <a:ext uri="{9D8B030D-6E8A-4147-A177-3AD203B41FA5}">
                      <a16:colId xmlns:a16="http://schemas.microsoft.com/office/drawing/2014/main" val="2582278239"/>
                    </a:ext>
                  </a:extLst>
                </a:gridCol>
                <a:gridCol w="1357648">
                  <a:extLst>
                    <a:ext uri="{9D8B030D-6E8A-4147-A177-3AD203B41FA5}">
                      <a16:colId xmlns:a16="http://schemas.microsoft.com/office/drawing/2014/main" val="1463214533"/>
                    </a:ext>
                  </a:extLst>
                </a:gridCol>
              </a:tblGrid>
              <a:tr h="312005">
                <a:tc>
                  <a:txBody>
                    <a:bodyPr/>
                    <a:lstStyle/>
                    <a:p>
                      <a:pPr algn="ctr" fontAlgn="b"/>
                      <a:r>
                        <a:rPr lang="en-US" sz="900" b="1" i="0" u="none" strike="noStrike">
                          <a:solidFill>
                            <a:srgbClr val="000000"/>
                          </a:solidFill>
                          <a:effectLst/>
                          <a:latin typeface="Calibri" panose="020F0502020204030204" pitchFamily="34" charset="0"/>
                        </a:rPr>
                        <a:t>Component Designator / Heat Load Location</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4C6E7"/>
                    </a:solidFill>
                  </a:tcPr>
                </a:tc>
                <a:tc>
                  <a:txBody>
                    <a:bodyPr/>
                    <a:lstStyle/>
                    <a:p>
                      <a:pPr algn="ctr" fontAlgn="b"/>
                      <a:r>
                        <a:rPr lang="en-US" sz="900" b="1" i="0" u="none" strike="noStrike">
                          <a:solidFill>
                            <a:srgbClr val="000000"/>
                          </a:solidFill>
                          <a:effectLst/>
                          <a:latin typeface="Calibri" panose="020F0502020204030204" pitchFamily="34" charset="0"/>
                        </a:rPr>
                        <a:t>Theta-JB (°C/W)</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4C6E7"/>
                    </a:solidFill>
                  </a:tcPr>
                </a:tc>
                <a:tc>
                  <a:txBody>
                    <a:bodyPr/>
                    <a:lstStyle/>
                    <a:p>
                      <a:pPr algn="ctr" fontAlgn="b"/>
                      <a:r>
                        <a:rPr lang="en-US" sz="900" b="1" i="0" u="none" strike="noStrike">
                          <a:solidFill>
                            <a:srgbClr val="000000"/>
                          </a:solidFill>
                          <a:effectLst/>
                          <a:latin typeface="Calibri" panose="020F0502020204030204" pitchFamily="34" charset="0"/>
                        </a:rPr>
                        <a:t>Theta-JC (°C/W)</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4C6E7"/>
                    </a:solidFill>
                  </a:tcPr>
                </a:tc>
                <a:tc>
                  <a:txBody>
                    <a:bodyPr/>
                    <a:lstStyle/>
                    <a:p>
                      <a:pPr algn="ctr" fontAlgn="b"/>
                      <a:r>
                        <a:rPr lang="en-US" sz="900" b="1" i="0" u="none" strike="noStrike">
                          <a:solidFill>
                            <a:srgbClr val="000000"/>
                          </a:solidFill>
                          <a:effectLst/>
                          <a:latin typeface="Calibri" panose="020F0502020204030204" pitchFamily="34" charset="0"/>
                        </a:rPr>
                        <a:t>Theta-JA (°C/W) </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4C6E7"/>
                    </a:solidFill>
                  </a:tcPr>
                </a:tc>
                <a:tc>
                  <a:txBody>
                    <a:bodyPr/>
                    <a:lstStyle/>
                    <a:p>
                      <a:pPr algn="ctr" fontAlgn="b"/>
                      <a:r>
                        <a:rPr lang="en-US" sz="900" b="1" i="0" u="none" strike="noStrike">
                          <a:solidFill>
                            <a:srgbClr val="000000"/>
                          </a:solidFill>
                          <a:effectLst/>
                          <a:latin typeface="Calibri" panose="020F0502020204030204" pitchFamily="34" charset="0"/>
                        </a:rPr>
                        <a:t>Low Limit (°C)</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4C6E7"/>
                    </a:solidFill>
                  </a:tcPr>
                </a:tc>
                <a:tc>
                  <a:txBody>
                    <a:bodyPr/>
                    <a:lstStyle/>
                    <a:p>
                      <a:pPr algn="ctr" fontAlgn="b"/>
                      <a:r>
                        <a:rPr lang="en-US" sz="900" b="1" i="0" u="none" strike="noStrike">
                          <a:solidFill>
                            <a:srgbClr val="000000"/>
                          </a:solidFill>
                          <a:effectLst/>
                          <a:latin typeface="Calibri" panose="020F0502020204030204" pitchFamily="34" charset="0"/>
                        </a:rPr>
                        <a:t>High Limit (°C)</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4C6E7"/>
                    </a:solidFill>
                  </a:tcPr>
                </a:tc>
                <a:tc>
                  <a:txBody>
                    <a:bodyPr/>
                    <a:lstStyle/>
                    <a:p>
                      <a:pPr algn="ctr" fontAlgn="b"/>
                      <a:r>
                        <a:rPr lang="en-US" sz="900" b="1" i="0" u="none" strike="noStrike">
                          <a:solidFill>
                            <a:srgbClr val="000000"/>
                          </a:solidFill>
                          <a:effectLst/>
                          <a:latin typeface="Calibri" panose="020F0502020204030204" pitchFamily="34" charset="0"/>
                        </a:rPr>
                        <a:t>Quantity</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4C6E7"/>
                    </a:solidFill>
                  </a:tcPr>
                </a:tc>
                <a:tc>
                  <a:txBody>
                    <a:bodyPr/>
                    <a:lstStyle/>
                    <a:p>
                      <a:pPr algn="ctr" fontAlgn="b"/>
                      <a:r>
                        <a:rPr lang="en-US" sz="900" b="1" i="0" u="none" strike="noStrike">
                          <a:solidFill>
                            <a:srgbClr val="000000"/>
                          </a:solidFill>
                          <a:effectLst/>
                          <a:latin typeface="Calibri" panose="020F0502020204030204" pitchFamily="34" charset="0"/>
                        </a:rPr>
                        <a:t>Heat Load (Per Component) [W]</a:t>
                      </a:r>
                    </a:p>
                  </a:txBody>
                  <a:tcPr marL="4216" marR="4216" marT="4216"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3849672296"/>
                  </a:ext>
                </a:extLst>
              </a:tr>
              <a:tr h="123569">
                <a:tc>
                  <a:txBody>
                    <a:bodyPr/>
                    <a:lstStyle/>
                    <a:p>
                      <a:pPr algn="ctr" fontAlgn="b"/>
                      <a:r>
                        <a:rPr lang="en-US" sz="700" b="0" i="0" u="none" strike="noStrike">
                          <a:solidFill>
                            <a:srgbClr val="000000"/>
                          </a:solidFill>
                          <a:effectLst/>
                          <a:latin typeface="Calibri" panose="020F0502020204030204" pitchFamily="34" charset="0"/>
                        </a:rPr>
                        <a:t>U1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1.87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0.293</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 </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-55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3.12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24353767"/>
                  </a:ext>
                </a:extLst>
              </a:tr>
              <a:tr h="123569">
                <a:tc>
                  <a:txBody>
                    <a:bodyPr/>
                    <a:lstStyle/>
                    <a:p>
                      <a:pPr algn="ctr" fontAlgn="b"/>
                      <a:r>
                        <a:rPr lang="pl-PL" sz="700" b="0" i="0" u="none" strike="noStrike">
                          <a:solidFill>
                            <a:srgbClr val="000000"/>
                          </a:solidFill>
                          <a:effectLst/>
                          <a:latin typeface="Calibri" panose="020F0502020204030204" pitchFamily="34" charset="0"/>
                        </a:rPr>
                        <a:t>U5, U6, U7, U8, U9, U10, U11, U12, U13, U14, U15, U16, U17, U18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12.8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5.4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 </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0.2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72096288"/>
                  </a:ext>
                </a:extLst>
              </a:tr>
              <a:tr h="123569">
                <a:tc>
                  <a:txBody>
                    <a:bodyPr/>
                    <a:lstStyle/>
                    <a:p>
                      <a:pPr algn="ctr" fontAlgn="b"/>
                      <a:r>
                        <a:rPr lang="en-US" sz="700" b="0" i="0" u="none" strike="noStrike">
                          <a:solidFill>
                            <a:srgbClr val="000000"/>
                          </a:solidFill>
                          <a:effectLst/>
                          <a:latin typeface="Calibri" panose="020F0502020204030204" pitchFamily="34" charset="0"/>
                        </a:rPr>
                        <a:t>U3, U4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5.6</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26.6</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-55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0.34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4089261277"/>
                  </a:ext>
                </a:extLst>
              </a:tr>
              <a:tr h="123569">
                <a:tc>
                  <a:txBody>
                    <a:bodyPr/>
                    <a:lstStyle/>
                    <a:p>
                      <a:pPr algn="ctr" fontAlgn="b"/>
                      <a:r>
                        <a:rPr lang="en-US" sz="700" b="0" i="0" u="none" strike="noStrike">
                          <a:solidFill>
                            <a:srgbClr val="000000"/>
                          </a:solidFill>
                          <a:effectLst/>
                          <a:latin typeface="Calibri" panose="020F0502020204030204" pitchFamily="34" charset="0"/>
                        </a:rPr>
                        <a:t>U96</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1.058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10915234"/>
                  </a:ext>
                </a:extLst>
              </a:tr>
              <a:tr h="123569">
                <a:tc>
                  <a:txBody>
                    <a:bodyPr/>
                    <a:lstStyle/>
                    <a:p>
                      <a:pPr algn="ctr" fontAlgn="b"/>
                      <a:r>
                        <a:rPr lang="en-US" sz="700" b="0" i="0" u="none" strike="noStrike">
                          <a:solidFill>
                            <a:srgbClr val="000000"/>
                          </a:solidFill>
                          <a:effectLst/>
                          <a:latin typeface="Calibri" panose="020F0502020204030204" pitchFamily="34" charset="0"/>
                        </a:rPr>
                        <a:t>U85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14.4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64.8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47.2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0.256</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837062121"/>
                  </a:ext>
                </a:extLst>
              </a:tr>
              <a:tr h="123569">
                <a:tc>
                  <a:txBody>
                    <a:bodyPr/>
                    <a:lstStyle/>
                    <a:p>
                      <a:pPr algn="ctr" fontAlgn="b"/>
                      <a:r>
                        <a:rPr lang="en-US" sz="700" b="0" i="0" u="none" strike="noStrike">
                          <a:solidFill>
                            <a:srgbClr val="000000"/>
                          </a:solidFill>
                          <a:effectLst/>
                          <a:latin typeface="Calibri" panose="020F0502020204030204" pitchFamily="34" charset="0"/>
                        </a:rPr>
                        <a:t>U38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6.8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12.4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23.7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-55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0.241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3744120"/>
                  </a:ext>
                </a:extLst>
              </a:tr>
              <a:tr h="123569">
                <a:tc>
                  <a:txBody>
                    <a:bodyPr/>
                    <a:lstStyle/>
                    <a:p>
                      <a:pPr algn="ctr" fontAlgn="b"/>
                      <a:r>
                        <a:rPr lang="en-US" sz="700" b="0" i="0" u="none" strike="noStrike">
                          <a:solidFill>
                            <a:srgbClr val="000000"/>
                          </a:solidFill>
                          <a:effectLst/>
                          <a:latin typeface="Calibri" panose="020F0502020204030204" pitchFamily="34" charset="0"/>
                        </a:rPr>
                        <a:t>U19</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0.228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552765386"/>
                  </a:ext>
                </a:extLst>
              </a:tr>
              <a:tr h="123569">
                <a:tc>
                  <a:txBody>
                    <a:bodyPr/>
                    <a:lstStyle/>
                    <a:p>
                      <a:pPr algn="ctr" fontAlgn="b"/>
                      <a:r>
                        <a:rPr lang="en-US" sz="700" b="0" i="0" u="none" strike="noStrike">
                          <a:solidFill>
                            <a:srgbClr val="000000"/>
                          </a:solidFill>
                          <a:effectLst/>
                          <a:latin typeface="Calibri" panose="020F0502020204030204" pitchFamily="34" charset="0"/>
                        </a:rPr>
                        <a:t>Q1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18.5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1.7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60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-55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100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0.8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19276863"/>
                  </a:ext>
                </a:extLst>
              </a:tr>
              <a:tr h="123569">
                <a:tc>
                  <a:txBody>
                    <a:bodyPr/>
                    <a:lstStyle/>
                    <a:p>
                      <a:pPr algn="ctr" fontAlgn="b"/>
                      <a:r>
                        <a:rPr lang="en-US" sz="700" b="0" i="0" u="none" strike="noStrike">
                          <a:solidFill>
                            <a:srgbClr val="000000"/>
                          </a:solidFill>
                          <a:effectLst/>
                          <a:latin typeface="Calibri" panose="020F0502020204030204" pitchFamily="34" charset="0"/>
                        </a:rPr>
                        <a:t>Q2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18.5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1.7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60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-55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100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846965805"/>
                  </a:ext>
                </a:extLst>
              </a:tr>
              <a:tr h="123569">
                <a:tc>
                  <a:txBody>
                    <a:bodyPr/>
                    <a:lstStyle/>
                    <a:p>
                      <a:pPr algn="ctr" fontAlgn="b"/>
                      <a:r>
                        <a:rPr lang="en-US" sz="700" b="0" i="0" u="none" strike="noStrike">
                          <a:solidFill>
                            <a:srgbClr val="000000"/>
                          </a:solidFill>
                          <a:effectLst/>
                          <a:latin typeface="Calibri" panose="020F0502020204030204" pitchFamily="34" charset="0"/>
                        </a:rPr>
                        <a:t>U76</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0.0305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13512665"/>
                  </a:ext>
                </a:extLst>
              </a:tr>
              <a:tr h="123569">
                <a:tc>
                  <a:txBody>
                    <a:bodyPr/>
                    <a:lstStyle/>
                    <a:p>
                      <a:pPr algn="ctr" fontAlgn="b"/>
                      <a:r>
                        <a:rPr lang="en-US" sz="700" b="0" i="0" u="none" strike="noStrike">
                          <a:solidFill>
                            <a:srgbClr val="000000"/>
                          </a:solidFill>
                          <a:effectLst/>
                          <a:latin typeface="Calibri" panose="020F0502020204030204" pitchFamily="34" charset="0"/>
                        </a:rPr>
                        <a:t>U77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0.009</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575797532"/>
                  </a:ext>
                </a:extLst>
              </a:tr>
              <a:tr h="123569">
                <a:tc>
                  <a:txBody>
                    <a:bodyPr/>
                    <a:lstStyle/>
                    <a:p>
                      <a:pPr algn="ctr" fontAlgn="b"/>
                      <a:r>
                        <a:rPr lang="en-US" sz="700" b="0" i="0" u="none" strike="noStrike">
                          <a:solidFill>
                            <a:srgbClr val="000000"/>
                          </a:solidFill>
                          <a:effectLst/>
                          <a:latin typeface="Calibri" panose="020F0502020204030204" pitchFamily="34" charset="0"/>
                        </a:rPr>
                        <a:t>U80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0.188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69700666"/>
                  </a:ext>
                </a:extLst>
              </a:tr>
              <a:tr h="123569">
                <a:tc>
                  <a:txBody>
                    <a:bodyPr/>
                    <a:lstStyle/>
                    <a:p>
                      <a:pPr algn="ctr" fontAlgn="b"/>
                      <a:r>
                        <a:rPr lang="en-US" sz="700" b="0" i="0" u="none" strike="noStrike">
                          <a:solidFill>
                            <a:srgbClr val="000000"/>
                          </a:solidFill>
                          <a:effectLst/>
                          <a:latin typeface="Calibri" panose="020F0502020204030204" pitchFamily="34" charset="0"/>
                        </a:rPr>
                        <a:t>U43</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0.09</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867469107"/>
                  </a:ext>
                </a:extLst>
              </a:tr>
              <a:tr h="123569">
                <a:tc>
                  <a:txBody>
                    <a:bodyPr/>
                    <a:lstStyle/>
                    <a:p>
                      <a:pPr algn="ctr" fontAlgn="b"/>
                      <a:r>
                        <a:rPr lang="en-US" sz="700" b="0" i="0" u="none" strike="noStrike">
                          <a:solidFill>
                            <a:srgbClr val="000000"/>
                          </a:solidFill>
                          <a:effectLst/>
                          <a:latin typeface="Calibri" panose="020F0502020204030204" pitchFamily="34" charset="0"/>
                        </a:rPr>
                        <a:t>U45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0.028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33310401"/>
                  </a:ext>
                </a:extLst>
              </a:tr>
              <a:tr h="123569">
                <a:tc>
                  <a:txBody>
                    <a:bodyPr/>
                    <a:lstStyle/>
                    <a:p>
                      <a:pPr algn="ctr" fontAlgn="b"/>
                      <a:r>
                        <a:rPr lang="en-US" sz="700" b="0" i="0" u="none" strike="noStrike">
                          <a:solidFill>
                            <a:srgbClr val="000000"/>
                          </a:solidFill>
                          <a:effectLst/>
                          <a:latin typeface="Calibri" panose="020F0502020204030204" pitchFamily="34" charset="0"/>
                        </a:rPr>
                        <a:t>U47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0.077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911710293"/>
                  </a:ext>
                </a:extLst>
              </a:tr>
              <a:tr h="123569">
                <a:tc>
                  <a:txBody>
                    <a:bodyPr/>
                    <a:lstStyle/>
                    <a:p>
                      <a:pPr algn="ctr" fontAlgn="b"/>
                      <a:r>
                        <a:rPr lang="en-US" sz="700" b="0" i="0" u="none" strike="noStrike">
                          <a:solidFill>
                            <a:srgbClr val="000000"/>
                          </a:solidFill>
                          <a:effectLst/>
                          <a:latin typeface="Calibri" panose="020F0502020204030204" pitchFamily="34" charset="0"/>
                        </a:rPr>
                        <a:t>U49</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0.052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10777540"/>
                  </a:ext>
                </a:extLst>
              </a:tr>
              <a:tr h="123569">
                <a:tc>
                  <a:txBody>
                    <a:bodyPr/>
                    <a:lstStyle/>
                    <a:p>
                      <a:pPr algn="ctr" fontAlgn="b"/>
                      <a:r>
                        <a:rPr lang="en-US" sz="700" b="0" i="0" u="none" strike="noStrike">
                          <a:solidFill>
                            <a:srgbClr val="000000"/>
                          </a:solidFill>
                          <a:effectLst/>
                          <a:latin typeface="Calibri" panose="020F0502020204030204" pitchFamily="34" charset="0"/>
                        </a:rPr>
                        <a:t>U44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0.089</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419046862"/>
                  </a:ext>
                </a:extLst>
              </a:tr>
              <a:tr h="123569">
                <a:tc>
                  <a:txBody>
                    <a:bodyPr/>
                    <a:lstStyle/>
                    <a:p>
                      <a:pPr algn="ctr" fontAlgn="b"/>
                      <a:r>
                        <a:rPr lang="en-US" sz="700" b="0" i="0" u="none" strike="noStrike">
                          <a:solidFill>
                            <a:srgbClr val="000000"/>
                          </a:solidFill>
                          <a:effectLst/>
                          <a:latin typeface="Calibri" panose="020F0502020204030204" pitchFamily="34" charset="0"/>
                        </a:rPr>
                        <a:t>U46</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0.028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83273607"/>
                  </a:ext>
                </a:extLst>
              </a:tr>
              <a:tr h="123569">
                <a:tc>
                  <a:txBody>
                    <a:bodyPr/>
                    <a:lstStyle/>
                    <a:p>
                      <a:pPr algn="ctr" fontAlgn="b"/>
                      <a:r>
                        <a:rPr lang="en-US" sz="700" b="0" i="0" u="none" strike="noStrike">
                          <a:solidFill>
                            <a:srgbClr val="000000"/>
                          </a:solidFill>
                          <a:effectLst/>
                          <a:latin typeface="Calibri" panose="020F0502020204030204" pitchFamily="34" charset="0"/>
                        </a:rPr>
                        <a:t>U48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0.0774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283808383"/>
                  </a:ext>
                </a:extLst>
              </a:tr>
              <a:tr h="123569">
                <a:tc>
                  <a:txBody>
                    <a:bodyPr/>
                    <a:lstStyle/>
                    <a:p>
                      <a:pPr algn="ctr" fontAlgn="b"/>
                      <a:r>
                        <a:rPr lang="en-US" sz="700" b="0" i="0" u="none" strike="noStrike">
                          <a:solidFill>
                            <a:srgbClr val="000000"/>
                          </a:solidFill>
                          <a:effectLst/>
                          <a:latin typeface="Calibri" panose="020F0502020204030204" pitchFamily="34" charset="0"/>
                        </a:rPr>
                        <a:t>U50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10.5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35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0.052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82681137"/>
                  </a:ext>
                </a:extLst>
              </a:tr>
              <a:tr h="123569">
                <a:tc>
                  <a:txBody>
                    <a:bodyPr/>
                    <a:lstStyle/>
                    <a:p>
                      <a:pPr algn="ctr" fontAlgn="b"/>
                      <a:r>
                        <a:rPr lang="en-US" sz="700" b="0" i="0" u="none" strike="noStrike">
                          <a:solidFill>
                            <a:srgbClr val="000000"/>
                          </a:solidFill>
                          <a:effectLst/>
                          <a:latin typeface="Calibri" panose="020F0502020204030204" pitchFamily="34" charset="0"/>
                        </a:rPr>
                        <a:t>U86</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14.4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64.8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47.2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0.157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714922437"/>
                  </a:ext>
                </a:extLst>
              </a:tr>
              <a:tr h="123569">
                <a:tc>
                  <a:txBody>
                    <a:bodyPr/>
                    <a:lstStyle/>
                    <a:p>
                      <a:pPr algn="ctr" fontAlgn="b"/>
                      <a:r>
                        <a:rPr lang="en-US" sz="700" b="0" i="0" u="none" strike="noStrike">
                          <a:solidFill>
                            <a:srgbClr val="000000"/>
                          </a:solidFill>
                          <a:effectLst/>
                          <a:latin typeface="Calibri" panose="020F0502020204030204" pitchFamily="34" charset="0"/>
                        </a:rPr>
                        <a:t>U81, U83</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9.3</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23</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29.7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-40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125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0.17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50237736"/>
                  </a:ext>
                </a:extLst>
              </a:tr>
              <a:tr h="123569">
                <a:tc>
                  <a:txBody>
                    <a:bodyPr/>
                    <a:lstStyle/>
                    <a:p>
                      <a:pPr algn="ctr" fontAlgn="b"/>
                      <a:r>
                        <a:rPr lang="en-US" sz="700" b="0" i="0" u="none" strike="noStrike">
                          <a:solidFill>
                            <a:srgbClr val="000000"/>
                          </a:solidFill>
                          <a:effectLst/>
                          <a:latin typeface="Calibri" panose="020F0502020204030204" pitchFamily="34" charset="0"/>
                        </a:rPr>
                        <a:t>Q9,Q10</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20.2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AFAF"/>
                    </a:solidFill>
                  </a:tcPr>
                </a:tc>
                <a:tc>
                  <a:txBody>
                    <a:bodyPr/>
                    <a:lstStyle/>
                    <a:p>
                      <a:pPr algn="ctr" fontAlgn="b"/>
                      <a:r>
                        <a:rPr lang="en-US" sz="700" b="0" i="0" u="none" strike="noStrike">
                          <a:solidFill>
                            <a:srgbClr val="000000"/>
                          </a:solidFill>
                          <a:effectLst/>
                          <a:latin typeface="Calibri" panose="020F0502020204030204" pitchFamily="34" charset="0"/>
                        </a:rPr>
                        <a:t>1.8</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65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-55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175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2</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0.07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4233195489"/>
                  </a:ext>
                </a:extLst>
              </a:tr>
              <a:tr h="123569">
                <a:tc>
                  <a:txBody>
                    <a:bodyPr/>
                    <a:lstStyle/>
                    <a:p>
                      <a:pPr algn="ctr" fontAlgn="b"/>
                      <a:r>
                        <a:rPr lang="en-US" sz="700" b="0" i="0" u="none" strike="noStrike">
                          <a:solidFill>
                            <a:srgbClr val="000000"/>
                          </a:solidFill>
                          <a:effectLst/>
                          <a:latin typeface="Calibri" panose="020F0502020204030204" pitchFamily="34" charset="0"/>
                        </a:rPr>
                        <a:t>PCB Top</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0.6047</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8264181"/>
                  </a:ext>
                </a:extLst>
              </a:tr>
              <a:tr h="123569">
                <a:tc>
                  <a:txBody>
                    <a:bodyPr/>
                    <a:lstStyle/>
                    <a:p>
                      <a:pPr algn="ctr" fontAlgn="b"/>
                      <a:r>
                        <a:rPr lang="en-US" sz="700" b="0" i="0" u="none" strike="noStrike">
                          <a:solidFill>
                            <a:srgbClr val="000000"/>
                          </a:solidFill>
                          <a:effectLst/>
                          <a:latin typeface="Calibri" panose="020F0502020204030204" pitchFamily="34" charset="0"/>
                        </a:rPr>
                        <a:t>PCB Bottom</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700" b="0" i="0" u="none" strike="noStrike">
                          <a:solidFill>
                            <a:srgbClr val="000000"/>
                          </a:solidFill>
                          <a:effectLst/>
                          <a:latin typeface="Calibri" panose="020F0502020204030204" pitchFamily="34" charset="0"/>
                        </a:rPr>
                        <a:t>0.095</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495942516"/>
                  </a:ext>
                </a:extLst>
              </a:tr>
              <a:tr h="123569">
                <a:tc>
                  <a:txBody>
                    <a:bodyPr/>
                    <a:lstStyle/>
                    <a:p>
                      <a:pPr algn="ctr" fontAlgn="b"/>
                      <a:r>
                        <a:rPr lang="en-US" sz="700" b="0" i="0" u="none" strike="noStrike">
                          <a:solidFill>
                            <a:srgbClr val="000000"/>
                          </a:solidFill>
                          <a:effectLst/>
                          <a:latin typeface="Calibri" panose="020F0502020204030204" pitchFamily="34" charset="0"/>
                        </a:rPr>
                        <a:t>Spread Across Board</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1.1294</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6624129"/>
                  </a:ext>
                </a:extLst>
              </a:tr>
              <a:tr h="123569">
                <a:tc>
                  <a:txBody>
                    <a:bodyPr/>
                    <a:lstStyle/>
                    <a:p>
                      <a:pPr algn="l" fontAlgn="b"/>
                      <a:endParaRPr lang="en-US" sz="700" b="0" i="0" u="none" strike="noStrike">
                        <a:solidFill>
                          <a:srgbClr val="000000"/>
                        </a:solidFill>
                        <a:effectLst/>
                        <a:latin typeface="Calibri" panose="020F0502020204030204" pitchFamily="34" charset="0"/>
                      </a:endParaRPr>
                    </a:p>
                  </a:txBody>
                  <a:tcPr marL="4216" marR="4216" marT="421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700" b="0" i="0" u="none" strike="noStrike">
                        <a:solidFill>
                          <a:srgbClr val="000000"/>
                        </a:solidFill>
                        <a:effectLst/>
                        <a:latin typeface="Calibri" panose="020F0502020204030204" pitchFamily="34" charset="0"/>
                      </a:endParaRPr>
                    </a:p>
                  </a:txBody>
                  <a:tcPr marL="4216" marR="4216" marT="421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700" b="0" i="0" u="none" strike="noStrike">
                        <a:solidFill>
                          <a:srgbClr val="000000"/>
                        </a:solidFill>
                        <a:effectLst/>
                        <a:latin typeface="Calibri" panose="020F0502020204030204" pitchFamily="34" charset="0"/>
                      </a:endParaRPr>
                    </a:p>
                  </a:txBody>
                  <a:tcPr marL="4216" marR="4216" marT="421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700" b="0" i="0" u="none" strike="noStrike">
                        <a:solidFill>
                          <a:srgbClr val="000000"/>
                        </a:solidFill>
                        <a:effectLst/>
                        <a:latin typeface="Calibri" panose="020F0502020204030204" pitchFamily="34" charset="0"/>
                      </a:endParaRPr>
                    </a:p>
                  </a:txBody>
                  <a:tcPr marL="4216" marR="4216" marT="421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700" b="0" i="0" u="none" strike="noStrike">
                        <a:solidFill>
                          <a:srgbClr val="000000"/>
                        </a:solidFill>
                        <a:effectLst/>
                        <a:latin typeface="Calibri" panose="020F0502020204030204" pitchFamily="34" charset="0"/>
                      </a:endParaRPr>
                    </a:p>
                  </a:txBody>
                  <a:tcPr marL="4216" marR="4216" marT="421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700" b="0" i="0" u="none" strike="noStrike">
                        <a:solidFill>
                          <a:srgbClr val="000000"/>
                        </a:solidFill>
                        <a:effectLst/>
                        <a:latin typeface="Calibri" panose="020F0502020204030204" pitchFamily="34" charset="0"/>
                      </a:endParaRPr>
                    </a:p>
                  </a:txBody>
                  <a:tcPr marL="4216" marR="4216" marT="4216"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r>
                        <a:rPr lang="en-US" sz="700" b="0" i="0" u="none" strike="noStrike">
                          <a:solidFill>
                            <a:srgbClr val="000000"/>
                          </a:solidFill>
                          <a:effectLst/>
                          <a:latin typeface="Calibri" panose="020F0502020204030204" pitchFamily="34" charset="0"/>
                        </a:rPr>
                        <a:t>SUM</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700" b="0" i="0" u="none" strike="noStrike">
                          <a:solidFill>
                            <a:srgbClr val="000000"/>
                          </a:solidFill>
                          <a:effectLst/>
                          <a:latin typeface="Calibri" panose="020F0502020204030204" pitchFamily="34" charset="0"/>
                        </a:rPr>
                        <a:t>13</a:t>
                      </a:r>
                    </a:p>
                  </a:txBody>
                  <a:tcPr marL="4216" marR="4216" marT="421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6985217"/>
                  </a:ext>
                </a:extLst>
              </a:tr>
            </a:tbl>
          </a:graphicData>
        </a:graphic>
      </p:graphicFrame>
    </p:spTree>
    <p:extLst>
      <p:ext uri="{BB962C8B-B14F-4D97-AF65-F5344CB8AC3E}">
        <p14:creationId xmlns:p14="http://schemas.microsoft.com/office/powerpoint/2010/main" val="1062916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43E892-54F5-55D7-CD55-803DA9CE09A4}"/>
              </a:ext>
            </a:extLst>
          </p:cNvPr>
          <p:cNvSpPr>
            <a:spLocks noGrp="1"/>
          </p:cNvSpPr>
          <p:nvPr>
            <p:ph idx="1"/>
          </p:nvPr>
        </p:nvSpPr>
        <p:spPr/>
        <p:txBody>
          <a:bodyPr/>
          <a:lstStyle/>
          <a:p>
            <a:r>
              <a:rPr lang="en-US"/>
              <a:t>Note: for contactors including multiple from objects (i.e. U5-U18 to PCB Bottom), the tabulated conductance value is overall conductance (not conductance per component)</a:t>
            </a:r>
          </a:p>
        </p:txBody>
      </p:sp>
      <p:sp>
        <p:nvSpPr>
          <p:cNvPr id="3" name="Title 2">
            <a:extLst>
              <a:ext uri="{FF2B5EF4-FFF2-40B4-BE49-F238E27FC236}">
                <a16:creationId xmlns:a16="http://schemas.microsoft.com/office/drawing/2014/main" id="{57631331-5A1C-5A42-86DC-6C4DCCEBDD8E}"/>
              </a:ext>
            </a:extLst>
          </p:cNvPr>
          <p:cNvSpPr>
            <a:spLocks noGrp="1"/>
          </p:cNvSpPr>
          <p:nvPr>
            <p:ph type="title"/>
          </p:nvPr>
        </p:nvSpPr>
        <p:spPr/>
        <p:txBody>
          <a:bodyPr/>
          <a:lstStyle/>
          <a:p>
            <a:r>
              <a:rPr lang="en-US"/>
              <a:t>Contactors</a:t>
            </a:r>
          </a:p>
        </p:txBody>
      </p:sp>
      <p:sp>
        <p:nvSpPr>
          <p:cNvPr id="4" name="Date Placeholder 3">
            <a:extLst>
              <a:ext uri="{FF2B5EF4-FFF2-40B4-BE49-F238E27FC236}">
                <a16:creationId xmlns:a16="http://schemas.microsoft.com/office/drawing/2014/main" id="{C92C9C17-F3EF-E45E-761D-9C247EA5CC4D}"/>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42817926-600F-9CB0-C864-E5895CC4796E}"/>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A7C61271-E455-3F28-20BE-17D9CF975FDC}"/>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9</a:t>
            </a:fld>
            <a:endParaRPr lang="de-DE"/>
          </a:p>
        </p:txBody>
      </p:sp>
      <p:graphicFrame>
        <p:nvGraphicFramePr>
          <p:cNvPr id="8" name="Table 7">
            <a:extLst>
              <a:ext uri="{FF2B5EF4-FFF2-40B4-BE49-F238E27FC236}">
                <a16:creationId xmlns:a16="http://schemas.microsoft.com/office/drawing/2014/main" id="{4BB38B0D-B75B-5FD3-2D29-0F8148541019}"/>
              </a:ext>
            </a:extLst>
          </p:cNvPr>
          <p:cNvGraphicFramePr>
            <a:graphicFrameLocks noGrp="1"/>
          </p:cNvGraphicFramePr>
          <p:nvPr>
            <p:extLst>
              <p:ext uri="{D42A27DB-BD31-4B8C-83A1-F6EECF244321}">
                <p14:modId xmlns:p14="http://schemas.microsoft.com/office/powerpoint/2010/main" val="957292643"/>
              </p:ext>
            </p:extLst>
          </p:nvPr>
        </p:nvGraphicFramePr>
        <p:xfrm>
          <a:off x="2601174" y="2098241"/>
          <a:ext cx="6989649" cy="4351344"/>
        </p:xfrm>
        <a:graphic>
          <a:graphicData uri="http://schemas.openxmlformats.org/drawingml/2006/table">
            <a:tbl>
              <a:tblPr/>
              <a:tblGrid>
                <a:gridCol w="1788050">
                  <a:extLst>
                    <a:ext uri="{9D8B030D-6E8A-4147-A177-3AD203B41FA5}">
                      <a16:colId xmlns:a16="http://schemas.microsoft.com/office/drawing/2014/main" val="1177545552"/>
                    </a:ext>
                  </a:extLst>
                </a:gridCol>
                <a:gridCol w="1650507">
                  <a:extLst>
                    <a:ext uri="{9D8B030D-6E8A-4147-A177-3AD203B41FA5}">
                      <a16:colId xmlns:a16="http://schemas.microsoft.com/office/drawing/2014/main" val="3164323081"/>
                    </a:ext>
                  </a:extLst>
                </a:gridCol>
                <a:gridCol w="2350723">
                  <a:extLst>
                    <a:ext uri="{9D8B030D-6E8A-4147-A177-3AD203B41FA5}">
                      <a16:colId xmlns:a16="http://schemas.microsoft.com/office/drawing/2014/main" val="2457670878"/>
                    </a:ext>
                  </a:extLst>
                </a:gridCol>
                <a:gridCol w="1200369">
                  <a:extLst>
                    <a:ext uri="{9D8B030D-6E8A-4147-A177-3AD203B41FA5}">
                      <a16:colId xmlns:a16="http://schemas.microsoft.com/office/drawing/2014/main" val="839334206"/>
                    </a:ext>
                  </a:extLst>
                </a:gridCol>
              </a:tblGrid>
              <a:tr h="181306">
                <a:tc>
                  <a:txBody>
                    <a:bodyPr/>
                    <a:lstStyle/>
                    <a:p>
                      <a:pPr algn="ctr" fontAlgn="ctr"/>
                      <a:r>
                        <a:rPr lang="en-US" sz="1100" b="1" i="0" u="none" strike="noStrike">
                          <a:solidFill>
                            <a:srgbClr val="000000"/>
                          </a:solidFill>
                          <a:effectLst/>
                          <a:latin typeface="Calibri" panose="020F0502020204030204" pitchFamily="34" charset="0"/>
                        </a:rPr>
                        <a:t>From</a:t>
                      </a:r>
                    </a:p>
                  </a:txBody>
                  <a:tcPr marL="6252" marR="6252" marT="62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100" b="1" i="0" u="none" strike="noStrike">
                          <a:solidFill>
                            <a:srgbClr val="000000"/>
                          </a:solidFill>
                          <a:effectLst/>
                          <a:latin typeface="Calibri" panose="020F0502020204030204" pitchFamily="34" charset="0"/>
                        </a:rPr>
                        <a:t>To</a:t>
                      </a:r>
                    </a:p>
                  </a:txBody>
                  <a:tcPr marL="6252" marR="6252" marT="62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100" b="1" i="0" u="none" strike="noStrike">
                          <a:solidFill>
                            <a:srgbClr val="000000"/>
                          </a:solidFill>
                          <a:effectLst/>
                          <a:latin typeface="Calibri" panose="020F0502020204030204" pitchFamily="34" charset="0"/>
                        </a:rPr>
                        <a:t>Via</a:t>
                      </a:r>
                    </a:p>
                  </a:txBody>
                  <a:tcPr marL="6252" marR="6252" marT="62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100" b="1" i="0" u="none" strike="noStrike">
                          <a:solidFill>
                            <a:srgbClr val="000000"/>
                          </a:solidFill>
                          <a:effectLst/>
                          <a:latin typeface="Calibri" panose="020F0502020204030204" pitchFamily="34" charset="0"/>
                        </a:rPr>
                        <a:t>Conductance [W/C]</a:t>
                      </a:r>
                    </a:p>
                  </a:txBody>
                  <a:tcPr marL="6252" marR="6252" marT="62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3473557797"/>
                  </a:ext>
                </a:extLst>
              </a:tr>
              <a:tr h="181306">
                <a:tc>
                  <a:txBody>
                    <a:bodyPr/>
                    <a:lstStyle/>
                    <a:p>
                      <a:pPr algn="ctr" fontAlgn="b"/>
                      <a:r>
                        <a:rPr lang="en-US" sz="1100" b="0" i="0" u="none" strike="noStrike">
                          <a:solidFill>
                            <a:srgbClr val="000000"/>
                          </a:solidFill>
                          <a:effectLst/>
                          <a:latin typeface="Calibri" panose="020F0502020204030204" pitchFamily="34" charset="0"/>
                        </a:rPr>
                        <a:t>PCB Bottom (opposite Q1/Q2)</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Bottom Housing</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Gap Pad</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1.243</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501740769"/>
                  </a:ext>
                </a:extLst>
              </a:tr>
              <a:tr h="181306">
                <a:tc>
                  <a:txBody>
                    <a:bodyPr/>
                    <a:lstStyle/>
                    <a:p>
                      <a:pPr algn="ctr" fontAlgn="b"/>
                      <a:r>
                        <a:rPr lang="en-US" sz="1100" b="0" i="0" u="none" strike="noStrike">
                          <a:solidFill>
                            <a:srgbClr val="000000"/>
                          </a:solidFill>
                          <a:effectLst/>
                          <a:latin typeface="Calibri" panose="020F0502020204030204" pitchFamily="34" charset="0"/>
                        </a:rPr>
                        <a:t>U1</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Bottom Housing</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1/Θ_JC and Gap Pad (series)</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0.191</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9379987"/>
                  </a:ext>
                </a:extLst>
              </a:tr>
              <a:tr h="181306">
                <a:tc>
                  <a:txBody>
                    <a:bodyPr/>
                    <a:lstStyle/>
                    <a:p>
                      <a:pPr algn="ctr" fontAlgn="b"/>
                      <a:r>
                        <a:rPr lang="en-US" sz="1100" b="0" i="0" u="none" strike="noStrike">
                          <a:solidFill>
                            <a:srgbClr val="000000"/>
                          </a:solidFill>
                          <a:effectLst/>
                          <a:latin typeface="Calibri" panose="020F0502020204030204" pitchFamily="34" charset="0"/>
                        </a:rPr>
                        <a:t>U14-U18</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Bottom Housing</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1/Θ_JC and Gap Pad (series)</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0.470</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439689726"/>
                  </a:ext>
                </a:extLst>
              </a:tr>
              <a:tr h="181306">
                <a:tc>
                  <a:txBody>
                    <a:bodyPr/>
                    <a:lstStyle/>
                    <a:p>
                      <a:pPr algn="ctr" fontAlgn="b"/>
                      <a:r>
                        <a:rPr lang="en-US" sz="1100" b="0" i="0" u="none" strike="noStrike">
                          <a:solidFill>
                            <a:srgbClr val="000000"/>
                          </a:solidFill>
                          <a:effectLst/>
                          <a:latin typeface="Calibri" panose="020F0502020204030204" pitchFamily="34" charset="0"/>
                        </a:rPr>
                        <a:t>U5-U13</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Bottom Housing</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1/Θ_JC and Gap Pad (series)</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0.847</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6586895"/>
                  </a:ext>
                </a:extLst>
              </a:tr>
              <a:tr h="181306">
                <a:tc>
                  <a:txBody>
                    <a:bodyPr/>
                    <a:lstStyle/>
                    <a:p>
                      <a:pPr algn="ctr" fontAlgn="b"/>
                      <a:r>
                        <a:rPr lang="en-US" sz="1100" b="0" i="0" u="none" strike="noStrike">
                          <a:solidFill>
                            <a:srgbClr val="000000"/>
                          </a:solidFill>
                          <a:effectLst/>
                          <a:latin typeface="Calibri" panose="020F0502020204030204" pitchFamily="34" charset="0"/>
                        </a:rPr>
                        <a:t>PCB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Bottom Housing</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15 #4-40 Fasteners</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3.900</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240606742"/>
                  </a:ext>
                </a:extLst>
              </a:tr>
              <a:tr h="181306">
                <a:tc>
                  <a:txBody>
                    <a:bodyPr/>
                    <a:lstStyle/>
                    <a:p>
                      <a:pPr algn="ctr" fontAlgn="b"/>
                      <a:r>
                        <a:rPr lang="en-US" sz="1100" b="0" i="0" u="none" strike="noStrike">
                          <a:solidFill>
                            <a:srgbClr val="000000"/>
                          </a:solidFill>
                          <a:effectLst/>
                          <a:latin typeface="Calibri" panose="020F0502020204030204" pitchFamily="34" charset="0"/>
                        </a:rPr>
                        <a:t>Top Housing</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Bottom Housing</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8 #6-32 Fasteners</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3.360</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7968896"/>
                  </a:ext>
                </a:extLst>
              </a:tr>
              <a:tr h="181306">
                <a:tc>
                  <a:txBody>
                    <a:bodyPr/>
                    <a:lstStyle/>
                    <a:p>
                      <a:pPr algn="ctr" fontAlgn="b"/>
                      <a:r>
                        <a:rPr lang="en-US" sz="1100" b="0" i="0" u="none" strike="noStrike">
                          <a:solidFill>
                            <a:srgbClr val="000000"/>
                          </a:solidFill>
                          <a:effectLst/>
                          <a:latin typeface="Calibri" panose="020F0502020204030204" pitchFamily="34" charset="0"/>
                        </a:rPr>
                        <a:t>Bottom Housing</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Boundary (Mounting Panel)</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4 QTR-28 Fasteners + Gap Pad (parallel)</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17.585</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211533300"/>
                  </a:ext>
                </a:extLst>
              </a:tr>
              <a:tr h="181306">
                <a:tc>
                  <a:txBody>
                    <a:bodyPr/>
                    <a:lstStyle/>
                    <a:p>
                      <a:pPr algn="ctr" fontAlgn="b"/>
                      <a:r>
                        <a:rPr lang="en-US" sz="1100" b="0" i="0" u="none" strike="noStrike">
                          <a:solidFill>
                            <a:srgbClr val="000000"/>
                          </a:solidFill>
                          <a:effectLst/>
                          <a:latin typeface="Calibri" panose="020F0502020204030204" pitchFamily="34" charset="0"/>
                        </a:rPr>
                        <a:t>Q9</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PCB Bottom</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0.050</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6250751"/>
                  </a:ext>
                </a:extLst>
              </a:tr>
              <a:tr h="181306">
                <a:tc>
                  <a:txBody>
                    <a:bodyPr/>
                    <a:lstStyle/>
                    <a:p>
                      <a:pPr algn="ctr" fontAlgn="b"/>
                      <a:r>
                        <a:rPr lang="en-US" sz="1100" b="0" i="0" u="none" strike="noStrike">
                          <a:solidFill>
                            <a:srgbClr val="000000"/>
                          </a:solidFill>
                          <a:effectLst/>
                          <a:latin typeface="Calibri" panose="020F0502020204030204" pitchFamily="34" charset="0"/>
                        </a:rPr>
                        <a:t>U1</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PCB Bottom</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0.535</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897913915"/>
                  </a:ext>
                </a:extLst>
              </a:tr>
              <a:tr h="181306">
                <a:tc>
                  <a:txBody>
                    <a:bodyPr/>
                    <a:lstStyle/>
                    <a:p>
                      <a:pPr algn="ctr" fontAlgn="b"/>
                      <a:r>
                        <a:rPr lang="en-US" sz="1100" b="0" i="0" u="none" strike="noStrike">
                          <a:solidFill>
                            <a:srgbClr val="000000"/>
                          </a:solidFill>
                          <a:effectLst/>
                          <a:latin typeface="Calibri" panose="020F0502020204030204" pitchFamily="34" charset="0"/>
                        </a:rPr>
                        <a:t>U5-U18</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PCB Bottom</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1.094</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8698922"/>
                  </a:ext>
                </a:extLst>
              </a:tr>
              <a:tr h="181306">
                <a:tc>
                  <a:txBody>
                    <a:bodyPr/>
                    <a:lstStyle/>
                    <a:p>
                      <a:pPr algn="ctr" fontAlgn="b"/>
                      <a:r>
                        <a:rPr lang="en-US" sz="1100" b="0" i="0" u="none" strike="noStrike">
                          <a:solidFill>
                            <a:srgbClr val="000000"/>
                          </a:solidFill>
                          <a:effectLst/>
                          <a:latin typeface="Calibri" panose="020F0502020204030204" pitchFamily="34" charset="0"/>
                        </a:rPr>
                        <a:t>U81</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PCB Bottom</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0.108</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6996660"/>
                  </a:ext>
                </a:extLst>
              </a:tr>
              <a:tr h="181306">
                <a:tc>
                  <a:txBody>
                    <a:bodyPr/>
                    <a:lstStyle/>
                    <a:p>
                      <a:pPr algn="ctr" fontAlgn="b"/>
                      <a:r>
                        <a:rPr lang="en-US" sz="1100" b="0" i="0" u="none" strike="noStrike">
                          <a:solidFill>
                            <a:srgbClr val="000000"/>
                          </a:solidFill>
                          <a:effectLst/>
                          <a:latin typeface="Calibri" panose="020F0502020204030204" pitchFamily="34" charset="0"/>
                        </a:rPr>
                        <a:t>Q10</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0.050</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8039002"/>
                  </a:ext>
                </a:extLst>
              </a:tr>
              <a:tr h="181306">
                <a:tc>
                  <a:txBody>
                    <a:bodyPr/>
                    <a:lstStyle/>
                    <a:p>
                      <a:pPr algn="ctr" fontAlgn="b"/>
                      <a:r>
                        <a:rPr lang="en-US" sz="1100" b="0" i="0" u="none" strike="noStrike">
                          <a:solidFill>
                            <a:srgbClr val="000000"/>
                          </a:solidFill>
                          <a:effectLst/>
                          <a:latin typeface="Calibri" panose="020F0502020204030204" pitchFamily="34" charset="0"/>
                        </a:rPr>
                        <a:t>Q1</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0.054</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304832039"/>
                  </a:ext>
                </a:extLst>
              </a:tr>
              <a:tr h="181306">
                <a:tc>
                  <a:txBody>
                    <a:bodyPr/>
                    <a:lstStyle/>
                    <a:p>
                      <a:pPr algn="ctr" fontAlgn="b"/>
                      <a:r>
                        <a:rPr lang="en-US" sz="1100" b="0" i="0" u="none" strike="noStrike">
                          <a:solidFill>
                            <a:srgbClr val="000000"/>
                          </a:solidFill>
                          <a:effectLst/>
                          <a:latin typeface="Calibri" panose="020F0502020204030204" pitchFamily="34" charset="0"/>
                        </a:rPr>
                        <a:t>Q2</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0.054</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1761419"/>
                  </a:ext>
                </a:extLst>
              </a:tr>
              <a:tr h="181306">
                <a:tc>
                  <a:txBody>
                    <a:bodyPr/>
                    <a:lstStyle/>
                    <a:p>
                      <a:pPr algn="ctr" fontAlgn="b"/>
                      <a:r>
                        <a:rPr lang="en-US" sz="1100" b="0" i="0" u="none" strike="noStrike">
                          <a:solidFill>
                            <a:srgbClr val="000000"/>
                          </a:solidFill>
                          <a:effectLst/>
                          <a:latin typeface="Calibri" panose="020F0502020204030204" pitchFamily="34" charset="0"/>
                        </a:rPr>
                        <a:t>U19</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0.095</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071168941"/>
                  </a:ext>
                </a:extLst>
              </a:tr>
              <a:tr h="181306">
                <a:tc>
                  <a:txBody>
                    <a:bodyPr/>
                    <a:lstStyle/>
                    <a:p>
                      <a:pPr algn="ctr" fontAlgn="b"/>
                      <a:r>
                        <a:rPr lang="en-US" sz="1100" b="0" i="0" u="none" strike="noStrike">
                          <a:solidFill>
                            <a:srgbClr val="000000"/>
                          </a:solidFill>
                          <a:effectLst/>
                          <a:latin typeface="Calibri" panose="020F0502020204030204" pitchFamily="34" charset="0"/>
                        </a:rPr>
                        <a:t>U3-U4</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0.357</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1736010"/>
                  </a:ext>
                </a:extLst>
              </a:tr>
              <a:tr h="181306">
                <a:tc>
                  <a:txBody>
                    <a:bodyPr/>
                    <a:lstStyle/>
                    <a:p>
                      <a:pPr algn="ctr" fontAlgn="b"/>
                      <a:r>
                        <a:rPr lang="en-US" sz="1100" b="0" i="0" u="none" strike="noStrike">
                          <a:solidFill>
                            <a:srgbClr val="000000"/>
                          </a:solidFill>
                          <a:effectLst/>
                          <a:latin typeface="Calibri" panose="020F0502020204030204" pitchFamily="34" charset="0"/>
                        </a:rPr>
                        <a:t>U38</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0.147</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279968661"/>
                  </a:ext>
                </a:extLst>
              </a:tr>
              <a:tr h="181306">
                <a:tc>
                  <a:txBody>
                    <a:bodyPr/>
                    <a:lstStyle/>
                    <a:p>
                      <a:pPr algn="ctr" fontAlgn="b"/>
                      <a:r>
                        <a:rPr lang="en-US" sz="1100" b="0" i="0" u="none" strike="noStrike">
                          <a:solidFill>
                            <a:srgbClr val="000000"/>
                          </a:solidFill>
                          <a:effectLst/>
                          <a:latin typeface="Calibri" panose="020F0502020204030204" pitchFamily="34" charset="0"/>
                        </a:rPr>
                        <a:t>U43, U45, U47, U49</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0.381</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9057578"/>
                  </a:ext>
                </a:extLst>
              </a:tr>
              <a:tr h="181306">
                <a:tc>
                  <a:txBody>
                    <a:bodyPr/>
                    <a:lstStyle/>
                    <a:p>
                      <a:pPr algn="ctr" fontAlgn="b"/>
                      <a:r>
                        <a:rPr lang="en-US" sz="1100" b="0" i="0" u="none" strike="noStrike">
                          <a:solidFill>
                            <a:srgbClr val="000000"/>
                          </a:solidFill>
                          <a:effectLst/>
                          <a:latin typeface="Calibri" panose="020F0502020204030204" pitchFamily="34" charset="0"/>
                        </a:rPr>
                        <a:t>U44, U46, U48, U50</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0.381</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86031744"/>
                  </a:ext>
                </a:extLst>
              </a:tr>
              <a:tr h="181306">
                <a:tc>
                  <a:txBody>
                    <a:bodyPr/>
                    <a:lstStyle/>
                    <a:p>
                      <a:pPr algn="ctr" fontAlgn="b"/>
                      <a:r>
                        <a:rPr lang="en-US" sz="1100" b="0" i="0" u="none" strike="noStrike">
                          <a:solidFill>
                            <a:srgbClr val="000000"/>
                          </a:solidFill>
                          <a:effectLst/>
                          <a:latin typeface="Calibri" panose="020F0502020204030204" pitchFamily="34" charset="0"/>
                        </a:rPr>
                        <a:t>U80</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0.095</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6723784"/>
                  </a:ext>
                </a:extLst>
              </a:tr>
              <a:tr h="181306">
                <a:tc>
                  <a:txBody>
                    <a:bodyPr/>
                    <a:lstStyle/>
                    <a:p>
                      <a:pPr algn="ctr" fontAlgn="b"/>
                      <a:r>
                        <a:rPr lang="en-US" sz="1100" b="0" i="0" u="none" strike="noStrike">
                          <a:solidFill>
                            <a:srgbClr val="000000"/>
                          </a:solidFill>
                          <a:effectLst/>
                          <a:latin typeface="Calibri" panose="020F0502020204030204" pitchFamily="34" charset="0"/>
                        </a:rPr>
                        <a:t>U85</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0.069</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345732725"/>
                  </a:ext>
                </a:extLst>
              </a:tr>
              <a:tr h="181306">
                <a:tc>
                  <a:txBody>
                    <a:bodyPr/>
                    <a:lstStyle/>
                    <a:p>
                      <a:pPr algn="ctr" fontAlgn="b"/>
                      <a:r>
                        <a:rPr lang="en-US" sz="1100" b="0" i="0" u="none" strike="noStrike">
                          <a:solidFill>
                            <a:srgbClr val="000000"/>
                          </a:solidFill>
                          <a:effectLst/>
                          <a:latin typeface="Calibri" panose="020F0502020204030204" pitchFamily="34" charset="0"/>
                        </a:rPr>
                        <a:t>U86</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0.069</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3297138"/>
                  </a:ext>
                </a:extLst>
              </a:tr>
              <a:tr h="181306">
                <a:tc>
                  <a:txBody>
                    <a:bodyPr/>
                    <a:lstStyle/>
                    <a:p>
                      <a:pPr algn="ctr" fontAlgn="b"/>
                      <a:r>
                        <a:rPr lang="en-US" sz="1100" b="0" i="0" u="none" strike="noStrike">
                          <a:solidFill>
                            <a:srgbClr val="000000"/>
                          </a:solidFill>
                          <a:effectLst/>
                          <a:latin typeface="Calibri" panose="020F0502020204030204" pitchFamily="34" charset="0"/>
                        </a:rPr>
                        <a:t>U96</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PCB Top</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l-GR" sz="1100" b="0" i="0" u="none" strike="noStrike">
                          <a:solidFill>
                            <a:srgbClr val="000000"/>
                          </a:solidFill>
                          <a:effectLst/>
                          <a:latin typeface="Calibri" panose="020F0502020204030204" pitchFamily="34" charset="0"/>
                        </a:rPr>
                        <a:t>1/Θ_</a:t>
                      </a:r>
                      <a:r>
                        <a:rPr lang="en-US" sz="1100" b="0" i="0" u="none" strike="noStrike">
                          <a:solidFill>
                            <a:srgbClr val="000000"/>
                          </a:solidFill>
                          <a:effectLst/>
                          <a:latin typeface="Calibri" panose="020F0502020204030204" pitchFamily="34" charset="0"/>
                        </a:rPr>
                        <a:t>JB</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100" b="0" i="0" u="none" strike="noStrike">
                          <a:solidFill>
                            <a:srgbClr val="000000"/>
                          </a:solidFill>
                          <a:effectLst/>
                          <a:latin typeface="Calibri" panose="020F0502020204030204" pitchFamily="34" charset="0"/>
                        </a:rPr>
                        <a:t>0.095</a:t>
                      </a:r>
                    </a:p>
                  </a:txBody>
                  <a:tcPr marL="6252" marR="6252" marT="625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2711855776"/>
                  </a:ext>
                </a:extLst>
              </a:tr>
            </a:tbl>
          </a:graphicData>
        </a:graphic>
      </p:graphicFrame>
    </p:spTree>
    <p:extLst>
      <p:ext uri="{BB962C8B-B14F-4D97-AF65-F5344CB8AC3E}">
        <p14:creationId xmlns:p14="http://schemas.microsoft.com/office/powerpoint/2010/main" val="1774865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8D7BA5-A55C-72C8-CDAB-B611F95BCFC0}"/>
              </a:ext>
            </a:extLst>
          </p:cNvPr>
          <p:cNvSpPr>
            <a:spLocks noGrp="1"/>
          </p:cNvSpPr>
          <p:nvPr>
            <p:ph idx="1"/>
          </p:nvPr>
        </p:nvSpPr>
        <p:spPr>
          <a:xfrm>
            <a:off x="273480" y="1206440"/>
            <a:ext cx="11645038" cy="5184591"/>
          </a:xfrm>
        </p:spPr>
        <p:txBody>
          <a:bodyPr/>
          <a:lstStyle/>
          <a:p>
            <a:r>
              <a:rPr lang="en-US"/>
              <a:t>Only internal radiation is modeled between the internal housing surfaces and the PCB (board)</a:t>
            </a:r>
          </a:p>
          <a:p>
            <a:pPr lvl="1"/>
            <a:r>
              <a:rPr lang="en-US"/>
              <a:t>External radiation neglected – conservative for the hot case</a:t>
            </a:r>
          </a:p>
          <a:p>
            <a:pPr lvl="1"/>
            <a:r>
              <a:rPr lang="en-US"/>
              <a:t>Component junctions neglected from internal radiation – conservative for the hot case</a:t>
            </a:r>
          </a:p>
        </p:txBody>
      </p:sp>
      <p:sp>
        <p:nvSpPr>
          <p:cNvPr id="3" name="Title 2">
            <a:extLst>
              <a:ext uri="{FF2B5EF4-FFF2-40B4-BE49-F238E27FC236}">
                <a16:creationId xmlns:a16="http://schemas.microsoft.com/office/drawing/2014/main" id="{11FDCBAC-C39E-5A15-18E7-EA40211A74C0}"/>
              </a:ext>
            </a:extLst>
          </p:cNvPr>
          <p:cNvSpPr>
            <a:spLocks noGrp="1"/>
          </p:cNvSpPr>
          <p:nvPr>
            <p:ph type="title"/>
          </p:nvPr>
        </p:nvSpPr>
        <p:spPr/>
        <p:txBody>
          <a:bodyPr/>
          <a:lstStyle/>
          <a:p>
            <a:r>
              <a:rPr lang="en-US"/>
              <a:t>Radiation Analysis Group</a:t>
            </a:r>
          </a:p>
        </p:txBody>
      </p:sp>
      <p:sp>
        <p:nvSpPr>
          <p:cNvPr id="4" name="Date Placeholder 3">
            <a:extLst>
              <a:ext uri="{FF2B5EF4-FFF2-40B4-BE49-F238E27FC236}">
                <a16:creationId xmlns:a16="http://schemas.microsoft.com/office/drawing/2014/main" id="{52C1F997-B0B5-D7CF-CF08-EF5E8D59A9DC}"/>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5DCBAF9B-4E7D-DD62-A9C1-DC3E31461629}"/>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89ABCCC7-7D71-4288-A5AF-803360049D2D}"/>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10</a:t>
            </a:fld>
            <a:endParaRPr lang="de-DE"/>
          </a:p>
        </p:txBody>
      </p:sp>
      <p:pic>
        <p:nvPicPr>
          <p:cNvPr id="8" name="Picture 7">
            <a:extLst>
              <a:ext uri="{FF2B5EF4-FFF2-40B4-BE49-F238E27FC236}">
                <a16:creationId xmlns:a16="http://schemas.microsoft.com/office/drawing/2014/main" id="{23204AAB-11C5-FE6A-C5A6-7E76F9AD8B51}"/>
              </a:ext>
            </a:extLst>
          </p:cNvPr>
          <p:cNvPicPr>
            <a:picLocks noChangeAspect="1"/>
          </p:cNvPicPr>
          <p:nvPr/>
        </p:nvPicPr>
        <p:blipFill>
          <a:blip r:embed="rId2"/>
          <a:stretch>
            <a:fillRect/>
          </a:stretch>
        </p:blipFill>
        <p:spPr>
          <a:xfrm>
            <a:off x="9681273" y="0"/>
            <a:ext cx="2369063" cy="1037160"/>
          </a:xfrm>
          <a:prstGeom prst="rect">
            <a:avLst/>
          </a:prstGeom>
        </p:spPr>
      </p:pic>
      <p:pic>
        <p:nvPicPr>
          <p:cNvPr id="10" name="Picture 9">
            <a:extLst>
              <a:ext uri="{FF2B5EF4-FFF2-40B4-BE49-F238E27FC236}">
                <a16:creationId xmlns:a16="http://schemas.microsoft.com/office/drawing/2014/main" id="{48282789-8BCE-D6CD-F4B9-500E4EF61179}"/>
              </a:ext>
            </a:extLst>
          </p:cNvPr>
          <p:cNvPicPr>
            <a:picLocks noChangeAspect="1"/>
          </p:cNvPicPr>
          <p:nvPr/>
        </p:nvPicPr>
        <p:blipFill>
          <a:blip r:embed="rId3"/>
          <a:stretch>
            <a:fillRect/>
          </a:stretch>
        </p:blipFill>
        <p:spPr>
          <a:xfrm>
            <a:off x="2700793" y="2246132"/>
            <a:ext cx="2733761" cy="4115369"/>
          </a:xfrm>
          <a:prstGeom prst="rect">
            <a:avLst/>
          </a:prstGeom>
        </p:spPr>
      </p:pic>
      <p:sp>
        <p:nvSpPr>
          <p:cNvPr id="13" name="TextBox 12">
            <a:extLst>
              <a:ext uri="{FF2B5EF4-FFF2-40B4-BE49-F238E27FC236}">
                <a16:creationId xmlns:a16="http://schemas.microsoft.com/office/drawing/2014/main" id="{B092322A-D946-8596-AED8-BDE553614816}"/>
              </a:ext>
            </a:extLst>
          </p:cNvPr>
          <p:cNvSpPr txBox="1"/>
          <p:nvPr/>
        </p:nvSpPr>
        <p:spPr>
          <a:xfrm>
            <a:off x="2741120" y="6222378"/>
            <a:ext cx="2805347" cy="307777"/>
          </a:xfrm>
          <a:prstGeom prst="rect">
            <a:avLst/>
          </a:prstGeom>
          <a:noFill/>
        </p:spPr>
        <p:txBody>
          <a:bodyPr wrap="square">
            <a:spAutoFit/>
          </a:bodyPr>
          <a:lstStyle/>
          <a:p>
            <a:pPr algn="ctr"/>
            <a:r>
              <a:rPr lang="en-US" sz="1400"/>
              <a:t>Top Housing Hidden</a:t>
            </a:r>
          </a:p>
        </p:txBody>
      </p:sp>
      <p:pic>
        <p:nvPicPr>
          <p:cNvPr id="14" name="Picture 13">
            <a:extLst>
              <a:ext uri="{FF2B5EF4-FFF2-40B4-BE49-F238E27FC236}">
                <a16:creationId xmlns:a16="http://schemas.microsoft.com/office/drawing/2014/main" id="{EBBD951B-51A3-F0F1-50E8-2B32E8F14BB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19395" y="2246132"/>
            <a:ext cx="2371812" cy="4115369"/>
          </a:xfrm>
          <a:prstGeom prst="rect">
            <a:avLst/>
          </a:prstGeom>
        </p:spPr>
      </p:pic>
      <p:sp>
        <p:nvSpPr>
          <p:cNvPr id="15" name="TextBox 14">
            <a:extLst>
              <a:ext uri="{FF2B5EF4-FFF2-40B4-BE49-F238E27FC236}">
                <a16:creationId xmlns:a16="http://schemas.microsoft.com/office/drawing/2014/main" id="{F16531BE-0D42-B7FD-F7F5-FFA01D835B89}"/>
              </a:ext>
            </a:extLst>
          </p:cNvPr>
          <p:cNvSpPr txBox="1"/>
          <p:nvPr/>
        </p:nvSpPr>
        <p:spPr>
          <a:xfrm>
            <a:off x="7231309" y="6210201"/>
            <a:ext cx="2164361" cy="307777"/>
          </a:xfrm>
          <a:prstGeom prst="rect">
            <a:avLst/>
          </a:prstGeom>
          <a:noFill/>
        </p:spPr>
        <p:txBody>
          <a:bodyPr wrap="square">
            <a:spAutoFit/>
          </a:bodyPr>
          <a:lstStyle/>
          <a:p>
            <a:pPr algn="ctr"/>
            <a:r>
              <a:rPr lang="en-US" sz="1400"/>
              <a:t>Bottom Housing Hidden</a:t>
            </a:r>
          </a:p>
        </p:txBody>
      </p:sp>
    </p:spTree>
    <p:extLst>
      <p:ext uri="{BB962C8B-B14F-4D97-AF65-F5344CB8AC3E}">
        <p14:creationId xmlns:p14="http://schemas.microsoft.com/office/powerpoint/2010/main" val="510694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BAA44A-C6B7-325A-DA12-EEEE9C89B2B2}"/>
              </a:ext>
            </a:extLst>
          </p:cNvPr>
          <p:cNvSpPr>
            <a:spLocks noGrp="1"/>
          </p:cNvSpPr>
          <p:nvPr>
            <p:ph idx="1"/>
          </p:nvPr>
        </p:nvSpPr>
        <p:spPr>
          <a:xfrm>
            <a:off x="150079" y="1134036"/>
            <a:ext cx="11900257" cy="5256996"/>
          </a:xfrm>
        </p:spPr>
        <p:txBody>
          <a:bodyPr/>
          <a:lstStyle/>
          <a:p>
            <a:r>
              <a:rPr lang="en-US"/>
              <a:t>The module was analyzed to steady-state assuming a mounting panel hot temperature of 60°C</a:t>
            </a:r>
          </a:p>
          <a:p>
            <a:r>
              <a:rPr lang="en-US"/>
              <a:t>Q1 is the limiting component, with a hot temperature predict of 93.66°C and a maximum temperature of 100°C</a:t>
            </a:r>
          </a:p>
          <a:p>
            <a:pPr lvl="1"/>
            <a:r>
              <a:rPr lang="en-US"/>
              <a:t>Accounting for 5°C thermal uncertainty, the minimum margin is </a:t>
            </a:r>
            <a:r>
              <a:rPr lang="en-US">
                <a:highlight>
                  <a:srgbClr val="00FF00"/>
                </a:highlight>
              </a:rPr>
              <a:t>1.34°C</a:t>
            </a:r>
          </a:p>
        </p:txBody>
      </p:sp>
      <p:sp>
        <p:nvSpPr>
          <p:cNvPr id="3" name="Title 2">
            <a:extLst>
              <a:ext uri="{FF2B5EF4-FFF2-40B4-BE49-F238E27FC236}">
                <a16:creationId xmlns:a16="http://schemas.microsoft.com/office/drawing/2014/main" id="{BEBA8A64-0428-196C-34A5-964746AE0000}"/>
              </a:ext>
            </a:extLst>
          </p:cNvPr>
          <p:cNvSpPr>
            <a:spLocks noGrp="1"/>
          </p:cNvSpPr>
          <p:nvPr>
            <p:ph type="title"/>
          </p:nvPr>
        </p:nvSpPr>
        <p:spPr/>
        <p:txBody>
          <a:bodyPr/>
          <a:lstStyle/>
          <a:p>
            <a:r>
              <a:rPr lang="en-US"/>
              <a:t>Results</a:t>
            </a:r>
          </a:p>
        </p:txBody>
      </p:sp>
      <p:sp>
        <p:nvSpPr>
          <p:cNvPr id="4" name="Date Placeholder 3">
            <a:extLst>
              <a:ext uri="{FF2B5EF4-FFF2-40B4-BE49-F238E27FC236}">
                <a16:creationId xmlns:a16="http://schemas.microsoft.com/office/drawing/2014/main" id="{3A094E00-432B-E4EE-D007-91429B3CDCA4}"/>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DBB0FA9B-69D8-C0FD-2444-5190D697BDE9}"/>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08224964-A1D8-676F-87BC-139C7C7B9ACC}"/>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11</a:t>
            </a:fld>
            <a:endParaRPr lang="de-DE"/>
          </a:p>
        </p:txBody>
      </p:sp>
      <p:pic>
        <p:nvPicPr>
          <p:cNvPr id="8" name="Picture 7">
            <a:extLst>
              <a:ext uri="{FF2B5EF4-FFF2-40B4-BE49-F238E27FC236}">
                <a16:creationId xmlns:a16="http://schemas.microsoft.com/office/drawing/2014/main" id="{2FC776EA-1787-0C97-7DB6-C7372439CBC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86853" y="2324713"/>
            <a:ext cx="2997286" cy="4100125"/>
          </a:xfrm>
          <a:prstGeom prst="rect">
            <a:avLst/>
          </a:prstGeom>
        </p:spPr>
      </p:pic>
      <p:pic>
        <p:nvPicPr>
          <p:cNvPr id="10" name="Picture 9">
            <a:extLst>
              <a:ext uri="{FF2B5EF4-FFF2-40B4-BE49-F238E27FC236}">
                <a16:creationId xmlns:a16="http://schemas.microsoft.com/office/drawing/2014/main" id="{06290BF2-91CB-8F81-CA6B-A7F20BC6591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161152" y="2235153"/>
            <a:ext cx="3309083" cy="4216018"/>
          </a:xfrm>
          <a:prstGeom prst="rect">
            <a:avLst/>
          </a:prstGeom>
        </p:spPr>
      </p:pic>
    </p:spTree>
    <p:extLst>
      <p:ext uri="{BB962C8B-B14F-4D97-AF65-F5344CB8AC3E}">
        <p14:creationId xmlns:p14="http://schemas.microsoft.com/office/powerpoint/2010/main" val="2478020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31F96C-0757-8717-455D-92CBF95B704F}"/>
              </a:ext>
            </a:extLst>
          </p:cNvPr>
          <p:cNvSpPr>
            <a:spLocks noGrp="1"/>
          </p:cNvSpPr>
          <p:nvPr>
            <p:ph idx="1"/>
          </p:nvPr>
        </p:nvSpPr>
        <p:spPr/>
        <p:txBody>
          <a:bodyPr/>
          <a:lstStyle/>
          <a:p>
            <a:r>
              <a:rPr lang="en-US"/>
              <a:t>The Farsight Avionics Module was analyzed and has positive margin for all components for a mounting panel temperature of 60°C</a:t>
            </a:r>
          </a:p>
          <a:p>
            <a:pPr lvl="1"/>
            <a:r>
              <a:rPr lang="en-US"/>
              <a:t>5°C uncertainty margin in combination with conservative assumptions (neglection of junction and external radiation) provide confidence that the module can operate up to 60°C</a:t>
            </a:r>
          </a:p>
          <a:p>
            <a:pPr lvl="1"/>
            <a:r>
              <a:rPr lang="en-US"/>
              <a:t>The Q1 component was identified as the temperature-limiting component, with </a:t>
            </a:r>
            <a:r>
              <a:rPr lang="en-US">
                <a:highlight>
                  <a:srgbClr val="00FF00"/>
                </a:highlight>
              </a:rPr>
              <a:t>1.34°C</a:t>
            </a:r>
            <a:r>
              <a:rPr lang="en-US"/>
              <a:t> margin to its maximum operating temperature of 100°C</a:t>
            </a:r>
          </a:p>
          <a:p>
            <a:r>
              <a:rPr lang="en-US"/>
              <a:t>The least extreme minimum operating temperature limit for the modeled components is -40°C. Cold case results are not presented as they are trivial – when operating, component temperatures will always be hotter than the cold case mounting panel temperature. Unless the entire module has a starting temperature less than -40°C, module operability is not a concern</a:t>
            </a:r>
          </a:p>
        </p:txBody>
      </p:sp>
      <p:sp>
        <p:nvSpPr>
          <p:cNvPr id="3" name="Title 2">
            <a:extLst>
              <a:ext uri="{FF2B5EF4-FFF2-40B4-BE49-F238E27FC236}">
                <a16:creationId xmlns:a16="http://schemas.microsoft.com/office/drawing/2014/main" id="{836E8F75-A255-752A-B302-83433BA706DD}"/>
              </a:ext>
            </a:extLst>
          </p:cNvPr>
          <p:cNvSpPr>
            <a:spLocks noGrp="1"/>
          </p:cNvSpPr>
          <p:nvPr>
            <p:ph type="title"/>
          </p:nvPr>
        </p:nvSpPr>
        <p:spPr/>
        <p:txBody>
          <a:bodyPr/>
          <a:lstStyle/>
          <a:p>
            <a:r>
              <a:rPr lang="en-US"/>
              <a:t>Summary</a:t>
            </a:r>
          </a:p>
        </p:txBody>
      </p:sp>
      <p:sp>
        <p:nvSpPr>
          <p:cNvPr id="4" name="Date Placeholder 3">
            <a:extLst>
              <a:ext uri="{FF2B5EF4-FFF2-40B4-BE49-F238E27FC236}">
                <a16:creationId xmlns:a16="http://schemas.microsoft.com/office/drawing/2014/main" id="{E2EC1E71-B95D-B284-36F3-CCB489F30F3E}"/>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AD58F89C-14E7-9147-A1C1-32406A4F6DFF}"/>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906FDF26-802D-3D1E-74F2-33C68EBFFC8B}"/>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12</a:t>
            </a:fld>
            <a:endParaRPr lang="de-DE"/>
          </a:p>
        </p:txBody>
      </p:sp>
    </p:spTree>
    <p:extLst>
      <p:ext uri="{BB962C8B-B14F-4D97-AF65-F5344CB8AC3E}">
        <p14:creationId xmlns:p14="http://schemas.microsoft.com/office/powerpoint/2010/main" val="2726226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2A3D8-1EF2-2332-8E96-F64C23E2176F}"/>
              </a:ext>
            </a:extLst>
          </p:cNvPr>
          <p:cNvSpPr>
            <a:spLocks noGrp="1"/>
          </p:cNvSpPr>
          <p:nvPr>
            <p:ph type="title" idx="4294967295"/>
          </p:nvPr>
        </p:nvSpPr>
        <p:spPr>
          <a:xfrm>
            <a:off x="222140" y="3016739"/>
            <a:ext cx="11747715" cy="824522"/>
          </a:xfrm>
          <a:prstGeom prst="rect">
            <a:avLst/>
          </a:prstGeom>
        </p:spPr>
        <p:txBody>
          <a:bodyPr/>
          <a:lstStyle/>
          <a:p>
            <a:r>
              <a:rPr lang="en-US"/>
              <a:t>Model Updates for 9/29 Design Closure</a:t>
            </a:r>
          </a:p>
        </p:txBody>
      </p:sp>
    </p:spTree>
    <p:extLst>
      <p:ext uri="{BB962C8B-B14F-4D97-AF65-F5344CB8AC3E}">
        <p14:creationId xmlns:p14="http://schemas.microsoft.com/office/powerpoint/2010/main" val="1043913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D2EAFA-FB53-08F9-D938-7801C6EA6946}"/>
              </a:ext>
            </a:extLst>
          </p:cNvPr>
          <p:cNvSpPr>
            <a:spLocks noGrp="1"/>
          </p:cNvSpPr>
          <p:nvPr>
            <p:ph idx="1"/>
          </p:nvPr>
        </p:nvSpPr>
        <p:spPr/>
        <p:txBody>
          <a:bodyPr/>
          <a:lstStyle/>
          <a:p>
            <a:r>
              <a:rPr lang="en-US"/>
              <a:t>Testing by German confirmed overall board heat load of ~13 W</a:t>
            </a:r>
          </a:p>
          <a:p>
            <a:r>
              <a:rPr lang="en-US"/>
              <a:t>Heat loads:</a:t>
            </a:r>
          </a:p>
          <a:p>
            <a:pPr lvl="1"/>
            <a:r>
              <a:rPr lang="en-US"/>
              <a:t>Overall: 13 W </a:t>
            </a:r>
            <a:r>
              <a:rPr lang="en-US">
                <a:sym typeface="Wingdings" panose="05000000000000000000" pitchFamily="2" charset="2"/>
              </a:rPr>
              <a:t> 14.52 W (+11.7%)</a:t>
            </a:r>
            <a:endParaRPr lang="en-US"/>
          </a:p>
          <a:p>
            <a:pPr lvl="2"/>
            <a:r>
              <a:rPr lang="en-US"/>
              <a:t>+30% to power dissipations for:</a:t>
            </a:r>
          </a:p>
          <a:p>
            <a:pPr lvl="3"/>
            <a:r>
              <a:rPr lang="en-US"/>
              <a:t>U1, U85, U65, U76, U79, U86 (summed: 3.66 W to 4.76 W)</a:t>
            </a:r>
          </a:p>
          <a:p>
            <a:pPr lvl="2"/>
            <a:r>
              <a:rPr lang="en-US"/>
              <a:t>+20% to spread across board heat load</a:t>
            </a:r>
          </a:p>
          <a:p>
            <a:pPr lvl="2"/>
            <a:r>
              <a:rPr lang="en-US"/>
              <a:t>Limiting components Q1/Q2:</a:t>
            </a:r>
          </a:p>
          <a:p>
            <a:pPr lvl="3"/>
            <a:r>
              <a:rPr lang="en-US"/>
              <a:t>Q1: 0.8 W </a:t>
            </a:r>
            <a:r>
              <a:rPr lang="en-US">
                <a:sym typeface="Wingdings" panose="05000000000000000000" pitchFamily="2" charset="2"/>
              </a:rPr>
              <a:t> 0.45 W</a:t>
            </a:r>
          </a:p>
          <a:p>
            <a:pPr lvl="3"/>
            <a:r>
              <a:rPr lang="en-US">
                <a:sym typeface="Wingdings" panose="05000000000000000000" pitchFamily="2" charset="2"/>
              </a:rPr>
              <a:t>Q2: 0.8 W  1.3 W</a:t>
            </a:r>
          </a:p>
          <a:p>
            <a:r>
              <a:rPr lang="en-US">
                <a:sym typeface="Wingdings" panose="05000000000000000000" pitchFamily="2" charset="2"/>
              </a:rPr>
              <a:t>Board properties:</a:t>
            </a:r>
          </a:p>
          <a:p>
            <a:pPr lvl="1"/>
            <a:r>
              <a:rPr lang="en-US">
                <a:sym typeface="Wingdings" panose="05000000000000000000" pitchFamily="2" charset="2"/>
              </a:rPr>
              <a:t>6 copper layers now modeled as I-TERA MT40</a:t>
            </a:r>
          </a:p>
          <a:p>
            <a:pPr lvl="2"/>
            <a:r>
              <a:rPr lang="en-US">
                <a:sym typeface="Wingdings" panose="05000000000000000000" pitchFamily="2" charset="2"/>
              </a:rPr>
              <a:t>Reduced board thermal conductivity</a:t>
            </a:r>
          </a:p>
          <a:p>
            <a:r>
              <a:rPr lang="en-US">
                <a:sym typeface="Wingdings" panose="05000000000000000000" pitchFamily="2" charset="2"/>
              </a:rPr>
              <a:t>Q1/Q2 connection to board:</a:t>
            </a:r>
          </a:p>
          <a:p>
            <a:pPr lvl="1"/>
            <a:r>
              <a:rPr lang="en-US" err="1">
                <a:sym typeface="Wingdings" panose="05000000000000000000" pitchFamily="2" charset="2"/>
              </a:rPr>
              <a:t>ThetaJB</a:t>
            </a:r>
            <a:r>
              <a:rPr lang="en-US">
                <a:sym typeface="Wingdings" panose="05000000000000000000" pitchFamily="2" charset="2"/>
              </a:rPr>
              <a:t> reduced from assumed 18.5 C/W to datasheet </a:t>
            </a:r>
            <a:r>
              <a:rPr lang="en-US" err="1">
                <a:sym typeface="Wingdings" panose="05000000000000000000" pitchFamily="2" charset="2"/>
              </a:rPr>
              <a:t>ThetaJC</a:t>
            </a:r>
            <a:r>
              <a:rPr lang="en-US">
                <a:sym typeface="Wingdings" panose="05000000000000000000" pitchFamily="2" charset="2"/>
              </a:rPr>
              <a:t> value of 1.7 C/W</a:t>
            </a:r>
          </a:p>
          <a:p>
            <a:pPr marL="457200" lvl="1" indent="0">
              <a:buNone/>
            </a:pPr>
            <a:endParaRPr lang="en-US"/>
          </a:p>
          <a:p>
            <a:pPr lvl="1"/>
            <a:endParaRPr lang="en-US"/>
          </a:p>
        </p:txBody>
      </p:sp>
      <p:sp>
        <p:nvSpPr>
          <p:cNvPr id="3" name="Title 2">
            <a:extLst>
              <a:ext uri="{FF2B5EF4-FFF2-40B4-BE49-F238E27FC236}">
                <a16:creationId xmlns:a16="http://schemas.microsoft.com/office/drawing/2014/main" id="{8C7658A2-167B-CDAF-56A7-7A9D5F1046A0}"/>
              </a:ext>
            </a:extLst>
          </p:cNvPr>
          <p:cNvSpPr>
            <a:spLocks noGrp="1"/>
          </p:cNvSpPr>
          <p:nvPr>
            <p:ph type="title"/>
          </p:nvPr>
        </p:nvSpPr>
        <p:spPr/>
        <p:txBody>
          <a:bodyPr/>
          <a:lstStyle/>
          <a:p>
            <a:r>
              <a:rPr lang="en-US"/>
              <a:t>Model Changes</a:t>
            </a:r>
          </a:p>
        </p:txBody>
      </p:sp>
      <p:sp>
        <p:nvSpPr>
          <p:cNvPr id="4" name="Date Placeholder 3">
            <a:extLst>
              <a:ext uri="{FF2B5EF4-FFF2-40B4-BE49-F238E27FC236}">
                <a16:creationId xmlns:a16="http://schemas.microsoft.com/office/drawing/2014/main" id="{08DF161B-A739-07C8-178E-750888BD6132}"/>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3B99D618-DB3A-B586-44C8-A2DB8DD41861}"/>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29B3A3FC-7952-35DE-B638-44BC0E5BD402}"/>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14</a:t>
            </a:fld>
            <a:endParaRPr lang="de-DE"/>
          </a:p>
        </p:txBody>
      </p:sp>
      <p:grpSp>
        <p:nvGrpSpPr>
          <p:cNvPr id="13" name="Group 12">
            <a:extLst>
              <a:ext uri="{FF2B5EF4-FFF2-40B4-BE49-F238E27FC236}">
                <a16:creationId xmlns:a16="http://schemas.microsoft.com/office/drawing/2014/main" id="{721313F2-2EE3-530D-1CE9-69A48BA709E5}"/>
              </a:ext>
            </a:extLst>
          </p:cNvPr>
          <p:cNvGrpSpPr/>
          <p:nvPr/>
        </p:nvGrpSpPr>
        <p:grpSpPr>
          <a:xfrm>
            <a:off x="6096000" y="3341915"/>
            <a:ext cx="5372481" cy="1883229"/>
            <a:chOff x="5379819" y="3953955"/>
            <a:chExt cx="2844246" cy="997001"/>
          </a:xfrm>
        </p:grpSpPr>
        <p:pic>
          <p:nvPicPr>
            <p:cNvPr id="8" name="Picture 7">
              <a:extLst>
                <a:ext uri="{FF2B5EF4-FFF2-40B4-BE49-F238E27FC236}">
                  <a16:creationId xmlns:a16="http://schemas.microsoft.com/office/drawing/2014/main" id="{1B914D22-6F4C-1299-7746-02AEED581C14}"/>
                </a:ext>
              </a:extLst>
            </p:cNvPr>
            <p:cNvPicPr>
              <a:picLocks noChangeAspect="1"/>
            </p:cNvPicPr>
            <p:nvPr/>
          </p:nvPicPr>
          <p:blipFill>
            <a:blip r:embed="rId2"/>
            <a:stretch>
              <a:fillRect/>
            </a:stretch>
          </p:blipFill>
          <p:spPr>
            <a:xfrm>
              <a:off x="5379819" y="3953955"/>
              <a:ext cx="1130358" cy="997001"/>
            </a:xfrm>
            <a:prstGeom prst="rect">
              <a:avLst/>
            </a:prstGeom>
          </p:spPr>
        </p:pic>
        <p:pic>
          <p:nvPicPr>
            <p:cNvPr id="10" name="Picture 9">
              <a:extLst>
                <a:ext uri="{FF2B5EF4-FFF2-40B4-BE49-F238E27FC236}">
                  <a16:creationId xmlns:a16="http://schemas.microsoft.com/office/drawing/2014/main" id="{E4054F4E-7037-36D6-A828-0E3DA173C4BA}"/>
                </a:ext>
              </a:extLst>
            </p:cNvPr>
            <p:cNvPicPr>
              <a:picLocks noChangeAspect="1"/>
            </p:cNvPicPr>
            <p:nvPr/>
          </p:nvPicPr>
          <p:blipFill>
            <a:blip r:embed="rId3"/>
            <a:stretch>
              <a:fillRect/>
            </a:stretch>
          </p:blipFill>
          <p:spPr>
            <a:xfrm>
              <a:off x="7074656" y="3953955"/>
              <a:ext cx="1149409" cy="977950"/>
            </a:xfrm>
            <a:prstGeom prst="rect">
              <a:avLst/>
            </a:prstGeom>
          </p:spPr>
        </p:pic>
        <p:cxnSp>
          <p:nvCxnSpPr>
            <p:cNvPr id="12" name="Straight Arrow Connector 11">
              <a:extLst>
                <a:ext uri="{FF2B5EF4-FFF2-40B4-BE49-F238E27FC236}">
                  <a16:creationId xmlns:a16="http://schemas.microsoft.com/office/drawing/2014/main" id="{F22D4189-104A-7E1A-5B4A-421460922249}"/>
                </a:ext>
              </a:extLst>
            </p:cNvPr>
            <p:cNvCxnSpPr/>
            <p:nvPr/>
          </p:nvCxnSpPr>
          <p:spPr>
            <a:xfrm>
              <a:off x="6545072" y="4462939"/>
              <a:ext cx="5072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44983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E8DD36-BC41-021C-0278-8A20880E4030}"/>
              </a:ext>
            </a:extLst>
          </p:cNvPr>
          <p:cNvSpPr>
            <a:spLocks noGrp="1"/>
          </p:cNvSpPr>
          <p:nvPr>
            <p:ph idx="1"/>
          </p:nvPr>
        </p:nvSpPr>
        <p:spPr>
          <a:xfrm>
            <a:off x="273480" y="1430930"/>
            <a:ext cx="7973165" cy="4960101"/>
          </a:xfrm>
        </p:spPr>
        <p:txBody>
          <a:bodyPr/>
          <a:lstStyle/>
          <a:p>
            <a:r>
              <a:rPr lang="en-US"/>
              <a:t>Design closes with positive margin for all components up to a 60°C mounting temperature</a:t>
            </a:r>
          </a:p>
          <a:p>
            <a:r>
              <a:rPr lang="en-US"/>
              <a:t>Component Q2 is the limiting component, with the minimum margin to its maximum junction temperature of 100°C</a:t>
            </a:r>
          </a:p>
          <a:p>
            <a:pPr lvl="1"/>
            <a:r>
              <a:rPr lang="en-US"/>
              <a:t>Maximum temperature predict: 83.2°C</a:t>
            </a:r>
          </a:p>
          <a:p>
            <a:pPr lvl="1"/>
            <a:r>
              <a:rPr lang="en-US"/>
              <a:t>Maximum predicted temperature (+ 5°C thermal uncertainty margin): 88.2°C</a:t>
            </a:r>
          </a:p>
          <a:p>
            <a:pPr lvl="1"/>
            <a:r>
              <a:rPr lang="en-US"/>
              <a:t>Margin to maximum junction temperature of 100°C: </a:t>
            </a:r>
            <a:r>
              <a:rPr lang="en-US" b="1">
                <a:highlight>
                  <a:srgbClr val="00FF00"/>
                </a:highlight>
              </a:rPr>
              <a:t>+11.8°C</a:t>
            </a:r>
          </a:p>
          <a:p>
            <a:pPr lvl="1"/>
            <a:endParaRPr lang="en-US"/>
          </a:p>
          <a:p>
            <a:pPr lvl="1"/>
            <a:endParaRPr lang="en-US"/>
          </a:p>
          <a:p>
            <a:pPr lvl="1"/>
            <a:endParaRPr lang="en-US"/>
          </a:p>
          <a:p>
            <a:endParaRPr lang="en-US"/>
          </a:p>
        </p:txBody>
      </p:sp>
      <p:sp>
        <p:nvSpPr>
          <p:cNvPr id="3" name="Title 2">
            <a:extLst>
              <a:ext uri="{FF2B5EF4-FFF2-40B4-BE49-F238E27FC236}">
                <a16:creationId xmlns:a16="http://schemas.microsoft.com/office/drawing/2014/main" id="{3A194035-05C4-3BA7-8274-E3A77C314096}"/>
              </a:ext>
            </a:extLst>
          </p:cNvPr>
          <p:cNvSpPr>
            <a:spLocks noGrp="1"/>
          </p:cNvSpPr>
          <p:nvPr>
            <p:ph type="title"/>
          </p:nvPr>
        </p:nvSpPr>
        <p:spPr/>
        <p:txBody>
          <a:bodyPr>
            <a:normAutofit/>
          </a:bodyPr>
          <a:lstStyle/>
          <a:p>
            <a:r>
              <a:rPr lang="en-US"/>
              <a:t>Updated Results</a:t>
            </a:r>
          </a:p>
        </p:txBody>
      </p:sp>
      <p:sp>
        <p:nvSpPr>
          <p:cNvPr id="4" name="Date Placeholder 3">
            <a:extLst>
              <a:ext uri="{FF2B5EF4-FFF2-40B4-BE49-F238E27FC236}">
                <a16:creationId xmlns:a16="http://schemas.microsoft.com/office/drawing/2014/main" id="{BCEC0E0D-E758-68F0-499C-8085B739CAA5}"/>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E452A63C-930F-72B2-D9AF-CCB26D186668}"/>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CA30EAC3-F281-3AFD-749D-975057D1FF46}"/>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15</a:t>
            </a:fld>
            <a:endParaRPr lang="de-DE"/>
          </a:p>
        </p:txBody>
      </p:sp>
      <p:pic>
        <p:nvPicPr>
          <p:cNvPr id="8" name="Picture 7">
            <a:extLst>
              <a:ext uri="{FF2B5EF4-FFF2-40B4-BE49-F238E27FC236}">
                <a16:creationId xmlns:a16="http://schemas.microsoft.com/office/drawing/2014/main" id="{C6E1CA02-1842-BACB-766D-31CA12787834}"/>
              </a:ext>
            </a:extLst>
          </p:cNvPr>
          <p:cNvPicPr>
            <a:picLocks noChangeAspect="1"/>
          </p:cNvPicPr>
          <p:nvPr/>
        </p:nvPicPr>
        <p:blipFill>
          <a:blip r:embed="rId2"/>
          <a:stretch>
            <a:fillRect/>
          </a:stretch>
        </p:blipFill>
        <p:spPr>
          <a:xfrm>
            <a:off x="8246645" y="1196601"/>
            <a:ext cx="3760257" cy="5190565"/>
          </a:xfrm>
          <a:prstGeom prst="rect">
            <a:avLst/>
          </a:prstGeom>
        </p:spPr>
      </p:pic>
    </p:spTree>
    <p:extLst>
      <p:ext uri="{BB962C8B-B14F-4D97-AF65-F5344CB8AC3E}">
        <p14:creationId xmlns:p14="http://schemas.microsoft.com/office/powerpoint/2010/main" val="1314965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98DF4C-C5B7-85A6-60DF-1A090CAA1664}"/>
              </a:ext>
            </a:extLst>
          </p:cNvPr>
          <p:cNvSpPr>
            <a:spLocks noGrp="1"/>
          </p:cNvSpPr>
          <p:nvPr>
            <p:ph idx="1"/>
          </p:nvPr>
        </p:nvSpPr>
        <p:spPr/>
        <p:txBody>
          <a:bodyPr/>
          <a:lstStyle/>
          <a:p>
            <a:r>
              <a:rPr lang="en-US"/>
              <a:t>Primary thermal concerns assuaged by testing confirmation of ~13 W overall power dissipation</a:t>
            </a:r>
          </a:p>
          <a:p>
            <a:r>
              <a:rPr lang="en-US"/>
              <a:t>Updated heat loads and board properties based on input from EE make the module overall hotter. However, limiting component (Q1/Q2) temperatures decreased due to less conservative contact to board, so minimum margin has increased</a:t>
            </a:r>
          </a:p>
          <a:p>
            <a:r>
              <a:rPr lang="en-US"/>
              <a:t>FARSIGHT Avionics Module design closes with positive margin – no enclosure modifications are necessary</a:t>
            </a:r>
          </a:p>
          <a:p>
            <a:endParaRPr lang="en-US"/>
          </a:p>
        </p:txBody>
      </p:sp>
      <p:sp>
        <p:nvSpPr>
          <p:cNvPr id="3" name="Title 2">
            <a:extLst>
              <a:ext uri="{FF2B5EF4-FFF2-40B4-BE49-F238E27FC236}">
                <a16:creationId xmlns:a16="http://schemas.microsoft.com/office/drawing/2014/main" id="{0E0BE865-E572-D37F-3218-72775DE11A5A}"/>
              </a:ext>
            </a:extLst>
          </p:cNvPr>
          <p:cNvSpPr>
            <a:spLocks noGrp="1"/>
          </p:cNvSpPr>
          <p:nvPr>
            <p:ph type="title"/>
          </p:nvPr>
        </p:nvSpPr>
        <p:spPr/>
        <p:txBody>
          <a:bodyPr/>
          <a:lstStyle/>
          <a:p>
            <a:r>
              <a:rPr lang="en-US"/>
              <a:t>Conclusion</a:t>
            </a:r>
          </a:p>
        </p:txBody>
      </p:sp>
      <p:sp>
        <p:nvSpPr>
          <p:cNvPr id="4" name="Date Placeholder 3">
            <a:extLst>
              <a:ext uri="{FF2B5EF4-FFF2-40B4-BE49-F238E27FC236}">
                <a16:creationId xmlns:a16="http://schemas.microsoft.com/office/drawing/2014/main" id="{70431576-5429-D481-2EFA-E1B128BD85ED}"/>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8BA003A7-C2A2-E4BE-732C-B06CFD75628E}"/>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FC168B08-F8D0-5959-0065-B12482F427DC}"/>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16</a:t>
            </a:fld>
            <a:endParaRPr lang="de-DE"/>
          </a:p>
        </p:txBody>
      </p:sp>
    </p:spTree>
    <p:extLst>
      <p:ext uri="{BB962C8B-B14F-4D97-AF65-F5344CB8AC3E}">
        <p14:creationId xmlns:p14="http://schemas.microsoft.com/office/powerpoint/2010/main" val="2475598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74C90-6F35-DD9B-33FA-93C95BFE6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59626-8CC5-888A-54A6-248779C545E5}"/>
              </a:ext>
            </a:extLst>
          </p:cNvPr>
          <p:cNvSpPr>
            <a:spLocks noGrp="1"/>
          </p:cNvSpPr>
          <p:nvPr>
            <p:ph type="title" idx="4294967295"/>
          </p:nvPr>
        </p:nvSpPr>
        <p:spPr>
          <a:xfrm>
            <a:off x="222140" y="3016739"/>
            <a:ext cx="11747715" cy="824522"/>
          </a:xfrm>
          <a:prstGeom prst="rect">
            <a:avLst/>
          </a:prstGeom>
        </p:spPr>
        <p:txBody>
          <a:bodyPr/>
          <a:lstStyle/>
          <a:p>
            <a:r>
              <a:rPr lang="en-US" dirty="0"/>
              <a:t>Model Updates for 4/7/2026 Design Closure</a:t>
            </a:r>
          </a:p>
        </p:txBody>
      </p:sp>
    </p:spTree>
    <p:extLst>
      <p:ext uri="{BB962C8B-B14F-4D97-AF65-F5344CB8AC3E}">
        <p14:creationId xmlns:p14="http://schemas.microsoft.com/office/powerpoint/2010/main" val="2924167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17FBD-0998-5C5B-009C-2A975CE6A4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B32205-F229-6951-D11E-5EF5AB3A066E}"/>
              </a:ext>
            </a:extLst>
          </p:cNvPr>
          <p:cNvSpPr>
            <a:spLocks noGrp="1"/>
          </p:cNvSpPr>
          <p:nvPr>
            <p:ph idx="1"/>
          </p:nvPr>
        </p:nvSpPr>
        <p:spPr/>
        <p:txBody>
          <a:bodyPr/>
          <a:lstStyle/>
          <a:p>
            <a:r>
              <a:rPr lang="en-US" dirty="0"/>
              <a:t>Testing by German confirmed overall board heat load of ~14.93W</a:t>
            </a:r>
          </a:p>
          <a:p>
            <a:r>
              <a:rPr lang="en-US" dirty="0"/>
              <a:t>Heat loads:</a:t>
            </a:r>
          </a:p>
          <a:p>
            <a:pPr lvl="1"/>
            <a:r>
              <a:rPr lang="en-US" dirty="0"/>
              <a:t>Overall: </a:t>
            </a:r>
            <a:r>
              <a:rPr lang="en-US" dirty="0">
                <a:sym typeface="Wingdings" panose="05000000000000000000" pitchFamily="2" charset="2"/>
              </a:rPr>
              <a:t>14.52</a:t>
            </a:r>
            <a:r>
              <a:rPr lang="en-US" dirty="0"/>
              <a:t> W </a:t>
            </a:r>
            <a:r>
              <a:rPr lang="en-US" dirty="0">
                <a:sym typeface="Wingdings" panose="05000000000000000000" pitchFamily="2" charset="2"/>
              </a:rPr>
              <a:t> 14.93 W (+2.8%)</a:t>
            </a:r>
            <a:endParaRPr lang="en-US" dirty="0"/>
          </a:p>
          <a:p>
            <a:pPr lvl="1"/>
            <a:r>
              <a:rPr lang="en-US" dirty="0"/>
              <a:t>Added U75: 0.257W</a:t>
            </a:r>
          </a:p>
          <a:p>
            <a:pPr lvl="1"/>
            <a:r>
              <a:rPr lang="en-US" dirty="0"/>
              <a:t>U81 UPDATED POWER FROM 0.17W to 0.324W</a:t>
            </a:r>
            <a:endParaRPr lang="en-US" dirty="0">
              <a:sym typeface="Wingdings" panose="05000000000000000000" pitchFamily="2" charset="2"/>
            </a:endParaRPr>
          </a:p>
          <a:p>
            <a:r>
              <a:rPr lang="en-US" dirty="0">
                <a:sym typeface="Wingdings" panose="05000000000000000000" pitchFamily="2" charset="2"/>
              </a:rPr>
              <a:t>Board properties:</a:t>
            </a:r>
          </a:p>
          <a:p>
            <a:pPr lvl="1"/>
            <a:r>
              <a:rPr lang="en-US" dirty="0">
                <a:sym typeface="Wingdings" panose="05000000000000000000" pitchFamily="2" charset="2"/>
              </a:rPr>
              <a:t>According to German Goncharuk, minor change on the PCB board, no need to modify the thermal conductivity of the board. </a:t>
            </a:r>
          </a:p>
          <a:p>
            <a:r>
              <a:rPr lang="en-US" dirty="0">
                <a:sym typeface="Wingdings" panose="05000000000000000000" pitchFamily="2" charset="2"/>
              </a:rPr>
              <a:t>U95 location changed:</a:t>
            </a:r>
          </a:p>
          <a:p>
            <a:pPr lvl="1"/>
            <a:r>
              <a:rPr lang="en-US" dirty="0"/>
              <a:t>U95 location changed, no action since this is not modeled in TD, heat loads applied in PCB distributed. </a:t>
            </a:r>
          </a:p>
          <a:p>
            <a:pPr lvl="1"/>
            <a:endParaRPr lang="en-US" dirty="0"/>
          </a:p>
        </p:txBody>
      </p:sp>
      <p:sp>
        <p:nvSpPr>
          <p:cNvPr id="3" name="Title 2">
            <a:extLst>
              <a:ext uri="{FF2B5EF4-FFF2-40B4-BE49-F238E27FC236}">
                <a16:creationId xmlns:a16="http://schemas.microsoft.com/office/drawing/2014/main" id="{E8012FE3-1EF6-96BD-B88D-DFF96F82026B}"/>
              </a:ext>
            </a:extLst>
          </p:cNvPr>
          <p:cNvSpPr>
            <a:spLocks noGrp="1"/>
          </p:cNvSpPr>
          <p:nvPr>
            <p:ph type="title"/>
          </p:nvPr>
        </p:nvSpPr>
        <p:spPr/>
        <p:txBody>
          <a:bodyPr/>
          <a:lstStyle/>
          <a:p>
            <a:r>
              <a:rPr lang="en-US"/>
              <a:t>Model Changes</a:t>
            </a:r>
          </a:p>
        </p:txBody>
      </p:sp>
      <p:sp>
        <p:nvSpPr>
          <p:cNvPr id="4" name="Date Placeholder 3">
            <a:extLst>
              <a:ext uri="{FF2B5EF4-FFF2-40B4-BE49-F238E27FC236}">
                <a16:creationId xmlns:a16="http://schemas.microsoft.com/office/drawing/2014/main" id="{1979DC4D-FD7A-000C-E22E-8B9EA4A5D849}"/>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B2C3A87B-BF8A-7DD8-3843-8A2ADDB5FF91}"/>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EA469058-6645-E9EE-C6B2-CAF494F5F81B}"/>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18</a:t>
            </a:fld>
            <a:endParaRPr lang="de-DE"/>
          </a:p>
        </p:txBody>
      </p:sp>
    </p:spTree>
    <p:extLst>
      <p:ext uri="{BB962C8B-B14F-4D97-AF65-F5344CB8AC3E}">
        <p14:creationId xmlns:p14="http://schemas.microsoft.com/office/powerpoint/2010/main" val="2951525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E40D2-77B0-EB3A-FBE8-E10366975F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9555AB-3A84-56E0-F8D5-08F3FEC4BFE0}"/>
              </a:ext>
            </a:extLst>
          </p:cNvPr>
          <p:cNvSpPr>
            <a:spLocks noGrp="1"/>
          </p:cNvSpPr>
          <p:nvPr>
            <p:ph idx="1"/>
          </p:nvPr>
        </p:nvSpPr>
        <p:spPr>
          <a:xfrm>
            <a:off x="273480" y="1430930"/>
            <a:ext cx="7543744" cy="4960101"/>
          </a:xfrm>
        </p:spPr>
        <p:txBody>
          <a:bodyPr>
            <a:normAutofit/>
          </a:bodyPr>
          <a:lstStyle/>
          <a:p>
            <a:r>
              <a:rPr lang="en-US" sz="1600" dirty="0"/>
              <a:t>Design closes with positive margin for all components up to a 60°C mounting temperature</a:t>
            </a:r>
          </a:p>
          <a:p>
            <a:r>
              <a:rPr lang="en-US" sz="1600" dirty="0"/>
              <a:t>Component Q2 is the limiting component, with the minimum margin to its maximum junction temperature of 100°C</a:t>
            </a:r>
          </a:p>
          <a:p>
            <a:pPr lvl="1"/>
            <a:r>
              <a:rPr lang="en-US" sz="1600" dirty="0"/>
              <a:t>Maximum temperature predict: 83.5°C</a:t>
            </a:r>
          </a:p>
          <a:p>
            <a:pPr lvl="1"/>
            <a:r>
              <a:rPr lang="en-US" sz="1600" dirty="0"/>
              <a:t>Maximum predicted temperature (+ 5°C thermal uncertainty margin): 88.5°C</a:t>
            </a:r>
          </a:p>
          <a:p>
            <a:pPr lvl="1"/>
            <a:r>
              <a:rPr lang="en-US" sz="1600" dirty="0"/>
              <a:t>Margin to maximum junction temperature of 100°C: </a:t>
            </a:r>
            <a:r>
              <a:rPr lang="en-US" sz="1600" b="1" dirty="0">
                <a:highlight>
                  <a:srgbClr val="00FF00"/>
                </a:highlight>
              </a:rPr>
              <a:t>+11.5°C</a:t>
            </a:r>
          </a:p>
          <a:p>
            <a:pPr lvl="1"/>
            <a:endParaRPr lang="en-US" sz="1600" dirty="0"/>
          </a:p>
          <a:p>
            <a:pPr lvl="1"/>
            <a:endParaRPr lang="en-US" sz="1600" dirty="0"/>
          </a:p>
          <a:p>
            <a:pPr lvl="1"/>
            <a:endParaRPr lang="en-US" sz="1600" dirty="0"/>
          </a:p>
          <a:p>
            <a:endParaRPr lang="en-US" sz="1600" dirty="0"/>
          </a:p>
        </p:txBody>
      </p:sp>
      <p:sp>
        <p:nvSpPr>
          <p:cNvPr id="3" name="Title 2">
            <a:extLst>
              <a:ext uri="{FF2B5EF4-FFF2-40B4-BE49-F238E27FC236}">
                <a16:creationId xmlns:a16="http://schemas.microsoft.com/office/drawing/2014/main" id="{B0EE6D9B-FEBD-E051-3A51-05BBD7A276BA}"/>
              </a:ext>
            </a:extLst>
          </p:cNvPr>
          <p:cNvSpPr>
            <a:spLocks noGrp="1"/>
          </p:cNvSpPr>
          <p:nvPr>
            <p:ph type="title"/>
          </p:nvPr>
        </p:nvSpPr>
        <p:spPr>
          <a:xfrm>
            <a:off x="1750981" y="126947"/>
            <a:ext cx="8770968" cy="952546"/>
          </a:xfrm>
        </p:spPr>
        <p:txBody>
          <a:bodyPr anchor="ctr">
            <a:normAutofit/>
          </a:bodyPr>
          <a:lstStyle/>
          <a:p>
            <a:r>
              <a:rPr lang="en-US"/>
              <a:t>Updated Results</a:t>
            </a:r>
          </a:p>
        </p:txBody>
      </p:sp>
      <p:sp>
        <p:nvSpPr>
          <p:cNvPr id="4" name="Date Placeholder 3">
            <a:extLst>
              <a:ext uri="{FF2B5EF4-FFF2-40B4-BE49-F238E27FC236}">
                <a16:creationId xmlns:a16="http://schemas.microsoft.com/office/drawing/2014/main" id="{F3856CEB-B3B5-177A-66CF-10145541F0C7}"/>
              </a:ext>
            </a:extLst>
          </p:cNvPr>
          <p:cNvSpPr>
            <a:spLocks noGrp="1"/>
          </p:cNvSpPr>
          <p:nvPr>
            <p:ph type="dt" sz="half" idx="10"/>
          </p:nvPr>
        </p:nvSpPr>
        <p:spPr>
          <a:xfrm>
            <a:off x="150079" y="6508139"/>
            <a:ext cx="2743200" cy="235561"/>
          </a:xfrm>
        </p:spPr>
        <p:txBody>
          <a:bodyPr anchor="b">
            <a:normAutofit/>
          </a:bodyPr>
          <a:lstStyle/>
          <a:p>
            <a:pPr>
              <a:spcAft>
                <a:spcPts val="600"/>
              </a:spcAft>
            </a:pPr>
            <a:fld id="{002369FF-696E-4C25-BA6D-3B92CDB3C44E}" type="datetime1">
              <a:rPr lang="en-US" smtClean="0"/>
              <a:pPr>
                <a:spcAft>
                  <a:spcPts val="600"/>
                </a:spcAft>
              </a:pPr>
              <a:t>10/6/2026</a:t>
            </a:fld>
            <a:endParaRPr lang="de-DE"/>
          </a:p>
        </p:txBody>
      </p:sp>
      <p:sp>
        <p:nvSpPr>
          <p:cNvPr id="5" name="Footer Placeholder 4">
            <a:extLst>
              <a:ext uri="{FF2B5EF4-FFF2-40B4-BE49-F238E27FC236}">
                <a16:creationId xmlns:a16="http://schemas.microsoft.com/office/drawing/2014/main" id="{FCFFB5FF-8504-AA4C-BC13-40BDB9E5EF88}"/>
              </a:ext>
            </a:extLst>
          </p:cNvPr>
          <p:cNvSpPr>
            <a:spLocks noGrp="1"/>
          </p:cNvSpPr>
          <p:nvPr>
            <p:ph type="ftr" sz="quarter" idx="11"/>
          </p:nvPr>
        </p:nvSpPr>
        <p:spPr>
          <a:xfrm>
            <a:off x="3230033" y="6508139"/>
            <a:ext cx="5731934" cy="235561"/>
          </a:xfrm>
        </p:spPr>
        <p:txBody>
          <a:bodyPr anchor="b">
            <a:normAutofit/>
          </a:bodyPr>
          <a:lstStyle/>
          <a:p>
            <a:pPr>
              <a:spcAft>
                <a:spcPts val="600"/>
              </a:spcAft>
            </a:pPr>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D10BA592-37B2-7B5E-297F-6B60564117C9}"/>
              </a:ext>
            </a:extLst>
          </p:cNvPr>
          <p:cNvSpPr>
            <a:spLocks noGrp="1"/>
          </p:cNvSpPr>
          <p:nvPr>
            <p:ph type="sldNum" sz="quarter" idx="12"/>
          </p:nvPr>
        </p:nvSpPr>
        <p:spPr>
          <a:xfrm>
            <a:off x="9046633" y="6508139"/>
            <a:ext cx="3003703" cy="235561"/>
          </a:xfrm>
        </p:spPr>
        <p:txBody>
          <a:bodyPr anchor="b">
            <a:normAutofit/>
          </a:bodyPr>
          <a:lstStyle/>
          <a:p>
            <a:pPr>
              <a:spcAft>
                <a:spcPts val="600"/>
              </a:spcAft>
            </a:pPr>
            <a:r>
              <a:rPr lang="en-US"/>
              <a:t>© 2024 Turion Space Corp. All Rights Reserved. | </a:t>
            </a:r>
            <a:fld id="{8775FF88-D48D-4EBF-B4BE-754F63DF0919}" type="slidenum">
              <a:rPr lang="de-DE" smtClean="0"/>
              <a:pPr>
                <a:spcAft>
                  <a:spcPts val="600"/>
                </a:spcAft>
              </a:pPr>
              <a:t>19</a:t>
            </a:fld>
            <a:endParaRPr lang="de-DE"/>
          </a:p>
        </p:txBody>
      </p:sp>
      <p:pic>
        <p:nvPicPr>
          <p:cNvPr id="8" name="Picture 7">
            <a:extLst>
              <a:ext uri="{FF2B5EF4-FFF2-40B4-BE49-F238E27FC236}">
                <a16:creationId xmlns:a16="http://schemas.microsoft.com/office/drawing/2014/main" id="{63E2BE87-2E79-A1E6-A3BA-342700EFAF2A}"/>
              </a:ext>
            </a:extLst>
          </p:cNvPr>
          <p:cNvPicPr>
            <a:picLocks noChangeAspect="1"/>
          </p:cNvPicPr>
          <p:nvPr/>
        </p:nvPicPr>
        <p:blipFill>
          <a:blip r:embed="rId2"/>
          <a:stretch>
            <a:fillRect/>
          </a:stretch>
        </p:blipFill>
        <p:spPr>
          <a:xfrm>
            <a:off x="7955149" y="1196601"/>
            <a:ext cx="3963371" cy="5150224"/>
          </a:xfrm>
          <a:prstGeom prst="rect">
            <a:avLst/>
          </a:prstGeom>
        </p:spPr>
      </p:pic>
      <p:pic>
        <p:nvPicPr>
          <p:cNvPr id="10" name="Picture 9">
            <a:extLst>
              <a:ext uri="{FF2B5EF4-FFF2-40B4-BE49-F238E27FC236}">
                <a16:creationId xmlns:a16="http://schemas.microsoft.com/office/drawing/2014/main" id="{0C5E9DF3-C598-3472-5DF0-E0618FB68967}"/>
              </a:ext>
            </a:extLst>
          </p:cNvPr>
          <p:cNvPicPr>
            <a:picLocks noChangeAspect="1"/>
          </p:cNvPicPr>
          <p:nvPr/>
        </p:nvPicPr>
        <p:blipFill>
          <a:blip r:embed="rId3"/>
          <a:stretch>
            <a:fillRect/>
          </a:stretch>
        </p:blipFill>
        <p:spPr>
          <a:xfrm>
            <a:off x="1750981" y="3502105"/>
            <a:ext cx="4772491" cy="2888926"/>
          </a:xfrm>
          <a:prstGeom prst="rect">
            <a:avLst/>
          </a:prstGeom>
        </p:spPr>
      </p:pic>
    </p:spTree>
    <p:extLst>
      <p:ext uri="{BB962C8B-B14F-4D97-AF65-F5344CB8AC3E}">
        <p14:creationId xmlns:p14="http://schemas.microsoft.com/office/powerpoint/2010/main" val="229692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46DEC-5BA3-3E7B-02EC-EA9756D0603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87EF09-B852-8E90-42E1-0537186F9192}"/>
              </a:ext>
            </a:extLst>
          </p:cNvPr>
          <p:cNvSpPr>
            <a:spLocks noGrp="1"/>
          </p:cNvSpPr>
          <p:nvPr>
            <p:ph idx="1"/>
          </p:nvPr>
        </p:nvSpPr>
        <p:spPr>
          <a:xfrm>
            <a:off x="273480" y="1430930"/>
            <a:ext cx="7543744" cy="4960101"/>
          </a:xfrm>
        </p:spPr>
        <p:txBody>
          <a:bodyPr>
            <a:normAutofit/>
          </a:bodyPr>
          <a:lstStyle/>
          <a:p>
            <a:r>
              <a:rPr lang="en-US" sz="1600" dirty="0"/>
              <a:t>Design closes with positive margin for all components up to a 70°C mounting temperature</a:t>
            </a:r>
          </a:p>
          <a:p>
            <a:r>
              <a:rPr lang="en-US" sz="1600" dirty="0"/>
              <a:t>Component Q2 is the limiting component, with the minimum margin to its maximum junction temperature of 100°C</a:t>
            </a:r>
          </a:p>
          <a:p>
            <a:pPr lvl="1"/>
            <a:r>
              <a:rPr lang="en-US" sz="1600" dirty="0"/>
              <a:t>Maximum temperature predict: 93.5°C</a:t>
            </a:r>
          </a:p>
          <a:p>
            <a:pPr lvl="1"/>
            <a:r>
              <a:rPr lang="en-US" sz="1600" dirty="0"/>
              <a:t>Maximum predicted temperature (+ 5°C thermal uncertainty margin): 98.5°C</a:t>
            </a:r>
          </a:p>
          <a:p>
            <a:pPr lvl="1"/>
            <a:r>
              <a:rPr lang="en-US" sz="1600" dirty="0"/>
              <a:t>Margin to maximum junction temperature of 100°C: </a:t>
            </a:r>
            <a:r>
              <a:rPr lang="en-US" sz="1600" b="1" dirty="0">
                <a:highlight>
                  <a:srgbClr val="00FF00"/>
                </a:highlight>
              </a:rPr>
              <a:t>+1.5°C</a:t>
            </a:r>
          </a:p>
          <a:p>
            <a:pPr lvl="1"/>
            <a:endParaRPr lang="en-US" sz="1600" dirty="0"/>
          </a:p>
          <a:p>
            <a:pPr lvl="1"/>
            <a:endParaRPr lang="en-US" sz="1600" dirty="0"/>
          </a:p>
          <a:p>
            <a:pPr lvl="1"/>
            <a:endParaRPr lang="en-US" sz="1600" dirty="0"/>
          </a:p>
          <a:p>
            <a:endParaRPr lang="en-US" sz="1600" dirty="0"/>
          </a:p>
        </p:txBody>
      </p:sp>
      <p:sp>
        <p:nvSpPr>
          <p:cNvPr id="3" name="Title 2">
            <a:extLst>
              <a:ext uri="{FF2B5EF4-FFF2-40B4-BE49-F238E27FC236}">
                <a16:creationId xmlns:a16="http://schemas.microsoft.com/office/drawing/2014/main" id="{A2B84295-63F7-189A-2BE3-F2A749CCBC43}"/>
              </a:ext>
            </a:extLst>
          </p:cNvPr>
          <p:cNvSpPr>
            <a:spLocks noGrp="1"/>
          </p:cNvSpPr>
          <p:nvPr>
            <p:ph type="title"/>
          </p:nvPr>
        </p:nvSpPr>
        <p:spPr>
          <a:xfrm>
            <a:off x="1750981" y="126947"/>
            <a:ext cx="8770968" cy="952546"/>
          </a:xfrm>
        </p:spPr>
        <p:txBody>
          <a:bodyPr anchor="ctr">
            <a:normAutofit/>
          </a:bodyPr>
          <a:lstStyle/>
          <a:p>
            <a:r>
              <a:rPr lang="en-US"/>
              <a:t>Updated Results</a:t>
            </a:r>
          </a:p>
        </p:txBody>
      </p:sp>
      <p:sp>
        <p:nvSpPr>
          <p:cNvPr id="4" name="Date Placeholder 3">
            <a:extLst>
              <a:ext uri="{FF2B5EF4-FFF2-40B4-BE49-F238E27FC236}">
                <a16:creationId xmlns:a16="http://schemas.microsoft.com/office/drawing/2014/main" id="{9EEBCB7A-4432-258B-2A0C-D7510982F6EC}"/>
              </a:ext>
            </a:extLst>
          </p:cNvPr>
          <p:cNvSpPr>
            <a:spLocks noGrp="1"/>
          </p:cNvSpPr>
          <p:nvPr>
            <p:ph type="dt" sz="half" idx="10"/>
          </p:nvPr>
        </p:nvSpPr>
        <p:spPr>
          <a:xfrm>
            <a:off x="150079" y="6508139"/>
            <a:ext cx="2743200" cy="235561"/>
          </a:xfrm>
        </p:spPr>
        <p:txBody>
          <a:bodyPr anchor="b">
            <a:normAutofit/>
          </a:bodyPr>
          <a:lstStyle/>
          <a:p>
            <a:pPr>
              <a:spcAft>
                <a:spcPts val="600"/>
              </a:spcAft>
            </a:pPr>
            <a:fld id="{002369FF-696E-4C25-BA6D-3B92CDB3C44E}" type="datetime1">
              <a:rPr lang="en-US" smtClean="0"/>
              <a:pPr>
                <a:spcAft>
                  <a:spcPts val="600"/>
                </a:spcAft>
              </a:pPr>
              <a:t>10/6/2026</a:t>
            </a:fld>
            <a:endParaRPr lang="de-DE"/>
          </a:p>
        </p:txBody>
      </p:sp>
      <p:sp>
        <p:nvSpPr>
          <p:cNvPr id="5" name="Footer Placeholder 4">
            <a:extLst>
              <a:ext uri="{FF2B5EF4-FFF2-40B4-BE49-F238E27FC236}">
                <a16:creationId xmlns:a16="http://schemas.microsoft.com/office/drawing/2014/main" id="{1038BEF0-0DCC-ED85-5049-610EC370F2F4}"/>
              </a:ext>
            </a:extLst>
          </p:cNvPr>
          <p:cNvSpPr>
            <a:spLocks noGrp="1"/>
          </p:cNvSpPr>
          <p:nvPr>
            <p:ph type="ftr" sz="quarter" idx="11"/>
          </p:nvPr>
        </p:nvSpPr>
        <p:spPr>
          <a:xfrm>
            <a:off x="3230033" y="6508139"/>
            <a:ext cx="5731934" cy="235561"/>
          </a:xfrm>
        </p:spPr>
        <p:txBody>
          <a:bodyPr anchor="b">
            <a:normAutofit/>
          </a:bodyPr>
          <a:lstStyle/>
          <a:p>
            <a:pPr>
              <a:spcAft>
                <a:spcPts val="600"/>
              </a:spcAft>
            </a:pPr>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79659B19-FFFA-6C09-72C4-B8F0FBF64B7B}"/>
              </a:ext>
            </a:extLst>
          </p:cNvPr>
          <p:cNvSpPr>
            <a:spLocks noGrp="1"/>
          </p:cNvSpPr>
          <p:nvPr>
            <p:ph type="sldNum" sz="quarter" idx="12"/>
          </p:nvPr>
        </p:nvSpPr>
        <p:spPr>
          <a:xfrm>
            <a:off x="9046633" y="6508139"/>
            <a:ext cx="3003703" cy="235561"/>
          </a:xfrm>
        </p:spPr>
        <p:txBody>
          <a:bodyPr anchor="b">
            <a:normAutofit/>
          </a:bodyPr>
          <a:lstStyle/>
          <a:p>
            <a:pPr>
              <a:spcAft>
                <a:spcPts val="600"/>
              </a:spcAft>
            </a:pPr>
            <a:r>
              <a:rPr lang="en-US"/>
              <a:t>© 2024 Turion Space Corp. All Rights Reserved. | </a:t>
            </a:r>
            <a:fld id="{8775FF88-D48D-4EBF-B4BE-754F63DF0919}" type="slidenum">
              <a:rPr lang="de-DE" smtClean="0"/>
              <a:pPr>
                <a:spcAft>
                  <a:spcPts val="600"/>
                </a:spcAft>
              </a:pPr>
              <a:t>20</a:t>
            </a:fld>
            <a:endParaRPr lang="de-DE"/>
          </a:p>
        </p:txBody>
      </p:sp>
      <p:pic>
        <p:nvPicPr>
          <p:cNvPr id="9" name="Picture 8">
            <a:extLst>
              <a:ext uri="{FF2B5EF4-FFF2-40B4-BE49-F238E27FC236}">
                <a16:creationId xmlns:a16="http://schemas.microsoft.com/office/drawing/2014/main" id="{BDE11B4D-C332-7B12-2838-0DC44575A512}"/>
              </a:ext>
            </a:extLst>
          </p:cNvPr>
          <p:cNvPicPr>
            <a:picLocks noChangeAspect="1"/>
          </p:cNvPicPr>
          <p:nvPr/>
        </p:nvPicPr>
        <p:blipFill>
          <a:blip r:embed="rId2"/>
          <a:stretch>
            <a:fillRect/>
          </a:stretch>
        </p:blipFill>
        <p:spPr>
          <a:xfrm>
            <a:off x="7898038" y="1196601"/>
            <a:ext cx="4091389" cy="5287279"/>
          </a:xfrm>
          <a:prstGeom prst="rect">
            <a:avLst/>
          </a:prstGeom>
        </p:spPr>
      </p:pic>
      <p:pic>
        <p:nvPicPr>
          <p:cNvPr id="11" name="Picture 10">
            <a:extLst>
              <a:ext uri="{FF2B5EF4-FFF2-40B4-BE49-F238E27FC236}">
                <a16:creationId xmlns:a16="http://schemas.microsoft.com/office/drawing/2014/main" id="{B55C27A7-C478-248E-1CDF-86298572E407}"/>
              </a:ext>
            </a:extLst>
          </p:cNvPr>
          <p:cNvPicPr>
            <a:picLocks noChangeAspect="1"/>
          </p:cNvPicPr>
          <p:nvPr/>
        </p:nvPicPr>
        <p:blipFill>
          <a:blip r:embed="rId3"/>
          <a:stretch>
            <a:fillRect/>
          </a:stretch>
        </p:blipFill>
        <p:spPr>
          <a:xfrm>
            <a:off x="1328084" y="3429000"/>
            <a:ext cx="5148916" cy="3116788"/>
          </a:xfrm>
          <a:prstGeom prst="rect">
            <a:avLst/>
          </a:prstGeom>
        </p:spPr>
      </p:pic>
    </p:spTree>
    <p:extLst>
      <p:ext uri="{BB962C8B-B14F-4D97-AF65-F5344CB8AC3E}">
        <p14:creationId xmlns:p14="http://schemas.microsoft.com/office/powerpoint/2010/main" val="2623089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35506-FC86-925E-FB26-E86E4FC4BE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7341B2-37A3-6A5F-2282-E818D89BF6AF}"/>
              </a:ext>
            </a:extLst>
          </p:cNvPr>
          <p:cNvSpPr>
            <a:spLocks noGrp="1"/>
          </p:cNvSpPr>
          <p:nvPr>
            <p:ph idx="1"/>
          </p:nvPr>
        </p:nvSpPr>
        <p:spPr/>
        <p:txBody>
          <a:bodyPr vert="horz" lIns="91440" tIns="45720" rIns="91440" bIns="45720" rtlCol="0" anchor="t">
            <a:normAutofit/>
          </a:bodyPr>
          <a:lstStyle/>
          <a:p>
            <a:r>
              <a:rPr lang="en-US" dirty="0"/>
              <a:t>Primary thermal concerns assuaged by testing confirmation of ~14.93 W overall power dissipation</a:t>
            </a:r>
          </a:p>
          <a:p>
            <a:r>
              <a:rPr lang="en-US">
                <a:cs typeface="Calibri Light"/>
              </a:rPr>
              <a:t>A trade of study was performed under 70 °C boundary condition, the margin for critical unit dropped from 11.5 </a:t>
            </a:r>
            <a:r>
              <a:rPr lang="en-US" sz="1800">
                <a:cs typeface="Calibri Light"/>
              </a:rPr>
              <a:t>°C to 1.5°C, which the unit still able to maintain its temperature within the operation temperature limits. Able to bring up the operation limits of farsight avionics module to 70 °C if necessary. </a:t>
            </a:r>
            <a:endParaRPr lang="en-US" sz="1800">
              <a:ea typeface="Calibri Light"/>
              <a:cs typeface="Calibri Light"/>
            </a:endParaRPr>
          </a:p>
          <a:p>
            <a:r>
              <a:rPr lang="en-US" dirty="0"/>
              <a:t>FARSIGHT Avionics Module design closes with positive margin – no enclosure modifications are necessary</a:t>
            </a:r>
          </a:p>
          <a:p>
            <a:endParaRPr lang="en-US" dirty="0"/>
          </a:p>
        </p:txBody>
      </p:sp>
      <p:sp>
        <p:nvSpPr>
          <p:cNvPr id="3" name="Title 2">
            <a:extLst>
              <a:ext uri="{FF2B5EF4-FFF2-40B4-BE49-F238E27FC236}">
                <a16:creationId xmlns:a16="http://schemas.microsoft.com/office/drawing/2014/main" id="{01624B54-D63A-43BD-223F-62CC3F438666}"/>
              </a:ext>
            </a:extLst>
          </p:cNvPr>
          <p:cNvSpPr>
            <a:spLocks noGrp="1"/>
          </p:cNvSpPr>
          <p:nvPr>
            <p:ph type="title"/>
          </p:nvPr>
        </p:nvSpPr>
        <p:spPr/>
        <p:txBody>
          <a:bodyPr/>
          <a:lstStyle/>
          <a:p>
            <a:r>
              <a:rPr lang="en-US"/>
              <a:t>Conclusion</a:t>
            </a:r>
          </a:p>
        </p:txBody>
      </p:sp>
      <p:sp>
        <p:nvSpPr>
          <p:cNvPr id="4" name="Date Placeholder 3">
            <a:extLst>
              <a:ext uri="{FF2B5EF4-FFF2-40B4-BE49-F238E27FC236}">
                <a16:creationId xmlns:a16="http://schemas.microsoft.com/office/drawing/2014/main" id="{6A89CA09-E6EF-7D05-0980-81C973C73B9E}"/>
              </a:ext>
            </a:extLst>
          </p:cNvPr>
          <p:cNvSpPr>
            <a:spLocks noGrp="1"/>
          </p:cNvSpPr>
          <p:nvPr>
            <p:ph type="dt" sz="half" idx="10"/>
          </p:nvPr>
        </p:nvSpPr>
        <p:spPr/>
        <p:txBody>
          <a:bodyPr/>
          <a:lstStyle/>
          <a:p>
            <a:fld id="{002369FF-696E-4C25-BA6D-3B92CDB3C44E}" type="datetime1">
              <a:rPr lang="en-US" smtClean="0"/>
              <a:pPr/>
              <a:t>10/6/2026</a:t>
            </a:fld>
            <a:endParaRPr lang="de-DE"/>
          </a:p>
        </p:txBody>
      </p:sp>
      <p:sp>
        <p:nvSpPr>
          <p:cNvPr id="5" name="Footer Placeholder 4">
            <a:extLst>
              <a:ext uri="{FF2B5EF4-FFF2-40B4-BE49-F238E27FC236}">
                <a16:creationId xmlns:a16="http://schemas.microsoft.com/office/drawing/2014/main" id="{0D507B7A-37F9-6E01-8EEF-6BD60ECF60CC}"/>
              </a:ext>
            </a:extLst>
          </p:cNvPr>
          <p:cNvSpPr>
            <a:spLocks noGrp="1"/>
          </p:cNvSpPr>
          <p:nvPr>
            <p:ph type="ftr" sz="quarter" idx="11"/>
          </p:nvPr>
        </p:nvSpPr>
        <p:spPr/>
        <p:txBody>
          <a:bodyPr/>
          <a:lstStyle/>
          <a:p>
            <a:r>
              <a:rPr lang="en-US"/>
              <a:t>Use or disclosure of data contained on this page is subject to the restriction on the first page of this volume</a:t>
            </a:r>
            <a:endParaRPr lang="de-DE"/>
          </a:p>
        </p:txBody>
      </p:sp>
      <p:sp>
        <p:nvSpPr>
          <p:cNvPr id="6" name="Slide Number Placeholder 5">
            <a:extLst>
              <a:ext uri="{FF2B5EF4-FFF2-40B4-BE49-F238E27FC236}">
                <a16:creationId xmlns:a16="http://schemas.microsoft.com/office/drawing/2014/main" id="{C2C8ADCF-D96E-CCAC-0C57-24939ADBEA15}"/>
              </a:ext>
            </a:extLst>
          </p:cNvPr>
          <p:cNvSpPr>
            <a:spLocks noGrp="1"/>
          </p:cNvSpPr>
          <p:nvPr>
            <p:ph type="sldNum" sz="quarter" idx="12"/>
          </p:nvPr>
        </p:nvSpPr>
        <p:spPr/>
        <p:txBody>
          <a:bodyPr/>
          <a:lstStyle/>
          <a:p>
            <a:r>
              <a:rPr lang="en-US"/>
              <a:t>© 2024 Turion Space Corp. All Rights Reserved. | </a:t>
            </a:r>
            <a:fld id="{8775FF88-D48D-4EBF-B4BE-754F63DF0919}" type="slidenum">
              <a:rPr lang="de-DE" smtClean="0"/>
              <a:pPr/>
              <a:t>21</a:t>
            </a:fld>
            <a:endParaRPr lang="de-DE"/>
          </a:p>
        </p:txBody>
      </p:sp>
    </p:spTree>
    <p:extLst>
      <p:ext uri="{BB962C8B-B14F-4D97-AF65-F5344CB8AC3E}">
        <p14:creationId xmlns:p14="http://schemas.microsoft.com/office/powerpoint/2010/main" val="3858626988"/>
      </p:ext>
    </p:extLst>
  </p:cSld>
  <p:clrMapOvr>
    <a:masterClrMapping/>
  </p:clrMapOvr>
</p:sld>
</file>

<file path=ppt/theme/theme1.xml><?xml version="1.0" encoding="utf-8"?>
<a:theme xmlns:a="http://schemas.openxmlformats.org/drawingml/2006/main" name="Turion Title P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Eras Medium ITC"/>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5.1.potx" id="{2A5E81E1-D075-444D-B817-63495CB6B26F}" vid="{16CAF281-4591-426F-ACBF-9EC9EED57AFE}"/>
    </a:ext>
  </a:extLst>
</a:theme>
</file>

<file path=ppt/theme/theme2.xml><?xml version="1.0" encoding="utf-8"?>
<a:theme xmlns:a="http://schemas.openxmlformats.org/drawingml/2006/main" name="Turion Stand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foil standard v3.1" id="{056495FF-E703-4287-9014-8999545E096C}" vid="{B01B74A2-6252-46FF-A14D-3419743C93E8}"/>
    </a:ext>
  </a:extLst>
</a:theme>
</file>

<file path=ppt/theme/theme3.xml><?xml version="1.0" encoding="utf-8"?>
<a:theme xmlns:a="http://schemas.openxmlformats.org/drawingml/2006/main" name="Turion Title Pag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Eras Medium ITC"/>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5.1.potx" id="{2A5E81E1-D075-444D-B817-63495CB6B26F}" vid="{16CAF281-4591-426F-ACBF-9EC9EED57AFE}"/>
    </a:ext>
  </a:extLst>
</a:theme>
</file>

<file path=ppt/theme/theme4.xml><?xml version="1.0" encoding="utf-8"?>
<a:theme xmlns:a="http://schemas.openxmlformats.org/drawingml/2006/main" name="Turion Stand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foil standard v3.1" id="{056495FF-E703-4287-9014-8999545E096C}" vid="{B01B74A2-6252-46FF-A14D-3419743C93E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7E5D7532F3A346A53727F4301B63EB" ma:contentTypeVersion="16" ma:contentTypeDescription="Create a new document." ma:contentTypeScope="" ma:versionID="7f3dff8bf90e6ed3ccd918882020e144">
  <xsd:schema xmlns:xsd="http://www.w3.org/2001/XMLSchema" xmlns:xs="http://www.w3.org/2001/XMLSchema" xmlns:p="http://schemas.microsoft.com/office/2006/metadata/properties" xmlns:ns2="ef11a57a-b159-4f95-9e1a-1f42b42ec017" xmlns:ns3="f55a4bb1-97c8-458f-98db-79f8ed2ccd9c" targetNamespace="http://schemas.microsoft.com/office/2006/metadata/properties" ma:root="true" ma:fieldsID="5f4c966c3697f32762c836d0027bb20b" ns2:_="" ns3:_="">
    <xsd:import namespace="ef11a57a-b159-4f95-9e1a-1f42b42ec017"/>
    <xsd:import namespace="f55a4bb1-97c8-458f-98db-79f8ed2ccd9c"/>
    <xsd:element name="properties">
      <xsd:complexType>
        <xsd:sequence>
          <xsd:element name="documentManagement">
            <xsd:complexType>
              <xsd:all>
                <xsd:element ref="ns2:MigrationWizId" minOccurs="0"/>
                <xsd:element ref="ns2:MigrationWizIdPermissions" minOccurs="0"/>
                <xsd:element ref="ns2:MigrationWizIdVersion" minOccurs="0"/>
                <xsd:element ref="ns2:Access" minOccurs="0"/>
                <xsd:element ref="ns2:lcf76f155ced4ddcb4097134ff3c332f0" minOccurs="0"/>
                <xsd:element ref="ns2:VersionNotes" minOccurs="0"/>
                <xsd:element ref="ns2:ReceivedDate" minOccurs="0"/>
                <xsd:element ref="ns2:test" minOccurs="0"/>
                <xsd:element ref="ns2:Country" minOccurs="0"/>
                <xsd:element ref="ns2:Sign_x002d_off_x0020_status" minOccurs="0"/>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Location" minOccurs="0"/>
                <xsd:element ref="ns3:SharedWithUsers" minOccurs="0"/>
                <xsd:element ref="ns3:SharedWithDetails" minOccurs="0"/>
                <xsd:element ref="ns2:DONE_x003f_"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11a57a-b159-4f95-9e1a-1f42b42ec017" elementFormDefault="qualified">
    <xsd:import namespace="http://schemas.microsoft.com/office/2006/documentManagement/types"/>
    <xsd:import namespace="http://schemas.microsoft.com/office/infopath/2007/PartnerControls"/>
    <xsd:element name="MigrationWizId" ma:index="8" nillable="true" ma:displayName="MigrationWizId" ma:hidden="true" ma:internalName="MigrationWizId" ma:readOnly="false">
      <xsd:simpleType>
        <xsd:restriction base="dms:Text"/>
      </xsd:simpleType>
    </xsd:element>
    <xsd:element name="MigrationWizIdPermissions" ma:index="9" nillable="true" ma:displayName="MigrationWizIdPermissions" ma:hidden="true" ma:internalName="MigrationWizIdPermissions" ma:readOnly="false">
      <xsd:simpleType>
        <xsd:restriction base="dms:Text"/>
      </xsd:simpleType>
    </xsd:element>
    <xsd:element name="MigrationWizIdVersion" ma:index="10" nillable="true" ma:displayName="MigrationWizIdVersion" ma:hidden="true" ma:internalName="MigrationWizIdVersion" ma:readOnly="false">
      <xsd:simpleType>
        <xsd:restriction base="dms:Text"/>
      </xsd:simpleType>
    </xsd:element>
    <xsd:element name="Access" ma:index="11" nillable="true" ma:displayName="Access" ma:description="The lowest rank group that has access to this directory" ma:list="UserInfo" ma:internalName="Access"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lcf76f155ced4ddcb4097134ff3c332f0" ma:index="12" nillable="true" ma:displayName="Image Tags_0" ma:hidden="true" ma:internalName="lcf76f155ced4ddcb4097134ff3c332f0" ma:readOnly="false">
      <xsd:simpleType>
        <xsd:restriction base="dms:Note"/>
      </xsd:simpleType>
    </xsd:element>
    <xsd:element name="VersionNotes" ma:index="13" nillable="true" ma:displayName="Version Notes" ma:description="Use to detail when the document was received from the supplier/ vendor" ma:internalName="VersionNotes" ma:readOnly="false">
      <xsd:simpleType>
        <xsd:restriction base="dms:Note">
          <xsd:maxLength value="255"/>
        </xsd:restriction>
      </xsd:simpleType>
    </xsd:element>
    <xsd:element name="ReceivedDate" ma:index="14" nillable="true" ma:displayName="Received Date" ma:description="Date Received from Vendor" ma:format="DateOnly" ma:internalName="ReceivedDate" ma:readOnly="false">
      <xsd:simpleType>
        <xsd:restriction base="dms:DateTime"/>
      </xsd:simpleType>
    </xsd:element>
    <xsd:element name="test" ma:index="15" nillable="true" ma:displayName="test" ma:description="test column" ma:internalName="test" ma:readOnly="false">
      <xsd:simpleType>
        <xsd:restriction base="dms:Text">
          <xsd:maxLength value="255"/>
        </xsd:restriction>
      </xsd:simpleType>
    </xsd:element>
    <xsd:element name="Country" ma:index="16" nillable="true" ma:displayName="Country" ma:description="Country of Headquarters" ma:format="Dropdown" ma:internalName="Country" ma:readOnly="false">
      <xsd:simpleType>
        <xsd:restriction base="dms:Choice">
          <xsd:enumeration value="US"/>
          <xsd:enumeration value="Germany"/>
          <xsd:enumeration value="France"/>
          <xsd:enumeration value="Canada"/>
          <xsd:enumeration value="Denmark"/>
          <xsd:enumeration value="Ecuador"/>
          <xsd:enumeration value="Australia"/>
        </xsd:restriction>
      </xsd:simpleType>
    </xsd:element>
    <xsd:element name="Sign_x002d_off_x0020_status" ma:index="17" nillable="true" ma:displayName="Sign-off status" ma:internalName="Sign_x002d_off_x0020_status" ma:readOnly="false">
      <xsd:simpleType>
        <xsd:restriction base="dms:Text">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4fc5428-0920-4bec-a287-471c74402cf9" ma:termSetId="09814cd3-568e-fe90-9814-8d621ff8fb84" ma:anchorId="fba54fb3-c3e1-fe81-a776-ca4b69148c4d" ma:open="true" ma:isKeyword="false">
      <xsd:complexType>
        <xsd:sequence>
          <xsd:element ref="pc:Terms" minOccurs="0" maxOccurs="1"/>
        </xsd:sequence>
      </xsd:complexType>
    </xsd:element>
    <xsd:element name="MediaServiceMetadata" ma:index="21" nillable="true" ma:displayName="MediaServiceMetadata" ma:hidden="true" ma:internalName="MediaServiceMetadata" ma:readOnly="true">
      <xsd:simpleType>
        <xsd:restriction base="dms:Note"/>
      </xsd:simpleType>
    </xsd:element>
    <xsd:element name="MediaServiceFastMetadata" ma:index="22" nillable="true" ma:displayName="MediaServiceFastMetadata" ma:hidden="true" ma:internalName="MediaServiceFastMetadata"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GenerationTime" ma:index="25" nillable="true" ma:displayName="MediaServiceGenerationTime" ma:hidden="true" ma:internalName="MediaServiceGenerationTime" ma:readOnly="true">
      <xsd:simpleType>
        <xsd:restriction base="dms:Text"/>
      </xsd:simpleType>
    </xsd:element>
    <xsd:element name="MediaServiceEventHashCode" ma:index="26" nillable="true" ma:displayName="MediaServiceEventHashCode" ma:hidden="true" ma:internalName="MediaServiceEventHashCode" ma:readOnly="true">
      <xsd:simpleType>
        <xsd:restriction base="dms:Text"/>
      </xsd:simpleType>
    </xsd:element>
    <xsd:element name="MediaServiceDateTaken" ma:index="27" nillable="true" ma:displayName="MediaServiceDateTaken" ma:description="" ma:hidden="true" ma:indexed="true" ma:internalName="MediaServiceDateTaken" ma:readOnly="true">
      <xsd:simpleType>
        <xsd:restriction base="dms:Text"/>
      </xsd:simpleType>
    </xsd:element>
    <xsd:element name="MediaLengthInSeconds" ma:index="28" nillable="true" ma:displayName="MediaLengthInSeconds" ma:hidden="true" ma:internalName="MediaLengthInSeconds" ma:readOnly="true">
      <xsd:simpleType>
        <xsd:restriction base="dms:Unknown"/>
      </xsd:simpleType>
    </xsd:element>
    <xsd:element name="MediaServiceLocation" ma:index="29" nillable="true" ma:displayName="Location" ma:indexed="true" ma:internalName="MediaServiceLocation" ma:readOnly="true">
      <xsd:simpleType>
        <xsd:restriction base="dms:Text"/>
      </xsd:simpleType>
    </xsd:element>
    <xsd:element name="DONE_x003f_" ma:index="32" nillable="true" ma:displayName="DONE?" ma:default="1" ma:format="Dropdown" ma:internalName="DONE_x003f_">
      <xsd:simpleType>
        <xsd:restriction base="dms:Boolean"/>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5a4bb1-97c8-458f-98db-79f8ed2ccd9c"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9bc3fee9-b08e-4e71-b8a1-789d34127880}" ma:internalName="TaxCatchAll" ma:readOnly="false" ma:showField="CatchAllData" ma:web="f55a4bb1-97c8-458f-98db-79f8ed2ccd9c">
      <xsd:complexType>
        <xsd:complexContent>
          <xsd:extension base="dms:MultiChoiceLookup">
            <xsd:sequence>
              <xsd:element name="Value" type="dms:Lookup" maxOccurs="unbounded" minOccurs="0" nillable="true"/>
            </xsd:sequence>
          </xsd:extension>
        </xsd:complexContent>
      </xsd:complexType>
    </xsd:element>
    <xsd:element name="SharedWithUsers" ma:index="3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ceivedDate xmlns="ef11a57a-b159-4f95-9e1a-1f42b42ec017" xsi:nil="true"/>
    <Sign_x002d_off_x0020_status xmlns="ef11a57a-b159-4f95-9e1a-1f42b42ec017" xsi:nil="true"/>
    <DONE_x003f_ xmlns="ef11a57a-b159-4f95-9e1a-1f42b42ec017">true</DONE_x003f_>
    <Access xmlns="ef11a57a-b159-4f95-9e1a-1f42b42ec017">
      <UserInfo>
        <DisplayName/>
        <AccountId xsi:nil="true"/>
        <AccountType/>
      </UserInfo>
    </Access>
    <MigrationWizIdPermissions xmlns="ef11a57a-b159-4f95-9e1a-1f42b42ec017" xsi:nil="true"/>
    <test xmlns="ef11a57a-b159-4f95-9e1a-1f42b42ec017" xsi:nil="true"/>
    <MigrationWizId xmlns="ef11a57a-b159-4f95-9e1a-1f42b42ec017" xsi:nil="true"/>
    <VersionNotes xmlns="ef11a57a-b159-4f95-9e1a-1f42b42ec017" xsi:nil="true"/>
    <MigrationWizIdVersion xmlns="ef11a57a-b159-4f95-9e1a-1f42b42ec017" xsi:nil="true"/>
    <lcf76f155ced4ddcb4097134ff3c332f0 xmlns="ef11a57a-b159-4f95-9e1a-1f42b42ec017" xsi:nil="true"/>
    <Country xmlns="ef11a57a-b159-4f95-9e1a-1f42b42ec017" xsi:nil="true"/>
    <lcf76f155ced4ddcb4097134ff3c332f xmlns="ef11a57a-b159-4f95-9e1a-1f42b42ec017">
      <Terms xmlns="http://schemas.microsoft.com/office/infopath/2007/PartnerControls"/>
    </lcf76f155ced4ddcb4097134ff3c332f>
    <TaxCatchAll xmlns="f55a4bb1-97c8-458f-98db-79f8ed2ccd9c" xsi:nil="true"/>
    <SharedWithUsers xmlns="f55a4bb1-97c8-458f-98db-79f8ed2ccd9c">
      <UserInfo>
        <DisplayName/>
        <AccountId xsi:nil="true"/>
        <AccountType/>
      </UserInfo>
    </SharedWithUsers>
    <MediaLengthInSeconds xmlns="ef11a57a-b159-4f95-9e1a-1f42b42ec017" xsi:nil="true"/>
  </documentManagement>
</p:properties>
</file>

<file path=customXml/itemProps1.xml><?xml version="1.0" encoding="utf-8"?>
<ds:datastoreItem xmlns:ds="http://schemas.openxmlformats.org/officeDocument/2006/customXml" ds:itemID="{4A41FA24-72DF-40EE-B55D-A9A754799E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11a57a-b159-4f95-9e1a-1f42b42ec017"/>
    <ds:schemaRef ds:uri="f55a4bb1-97c8-458f-98db-79f8ed2ccd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DE75EB-FC72-4056-9A54-297149FFC0A9}">
  <ds:schemaRefs>
    <ds:schemaRef ds:uri="http://schemas.microsoft.com/sharepoint/v3/contenttype/forms"/>
  </ds:schemaRefs>
</ds:datastoreItem>
</file>

<file path=customXml/itemProps3.xml><?xml version="1.0" encoding="utf-8"?>
<ds:datastoreItem xmlns:ds="http://schemas.openxmlformats.org/officeDocument/2006/customXml" ds:itemID="{F7DCB35C-2D83-465B-9037-501E4FB396E2}">
  <ds:schemaRefs>
    <ds:schemaRef ds:uri="8ceb5dc2-7caf-45a0-8967-4c553ce2e69f"/>
    <ds:schemaRef ds:uri="dec6884b-cfb9-44d6-a993-e605321e66f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ef11a57a-b159-4f95-9e1a-1f42b42ec017"/>
    <ds:schemaRef ds:uri="f55a4bb1-97c8-458f-98db-79f8ed2ccd9c"/>
  </ds:schemaRefs>
</ds:datastoreItem>
</file>

<file path=docProps/app.xml><?xml version="1.0" encoding="utf-8"?>
<Properties xmlns="http://schemas.openxmlformats.org/officeDocument/2006/extended-properties" xmlns:vt="http://schemas.openxmlformats.org/officeDocument/2006/docPropsVTypes">
  <Template>Trifoil standard v3.1</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4</vt:i4>
      </vt:variant>
      <vt:variant>
        <vt:lpstr>Slide Titles</vt:lpstr>
      </vt:variant>
      <vt:variant>
        <vt:i4>21</vt:i4>
      </vt:variant>
    </vt:vector>
  </HeadingPairs>
  <TitlesOfParts>
    <vt:vector size="25" baseType="lpstr">
      <vt:lpstr>Turion Title Page</vt:lpstr>
      <vt:lpstr>Turion Standard</vt:lpstr>
      <vt:lpstr>Turion Title Page</vt:lpstr>
      <vt:lpstr>Turion Standard</vt:lpstr>
      <vt:lpstr>ANALYSIS, THERMAL, FARSIGHT AVIONICS MODULE</vt:lpstr>
      <vt:lpstr>Overview</vt:lpstr>
      <vt:lpstr>Assumptions</vt:lpstr>
      <vt:lpstr>Thermal Model vs CAD</vt:lpstr>
      <vt:lpstr>Thermophysical Properties</vt:lpstr>
      <vt:lpstr>Thermophysical Properties: PCB Stackup</vt:lpstr>
      <vt:lpstr>Optical Properties</vt:lpstr>
      <vt:lpstr>Heat Loads, Thermal Resistances, and Temperature Limits</vt:lpstr>
      <vt:lpstr>Contactors</vt:lpstr>
      <vt:lpstr>Radiation Analysis Group</vt:lpstr>
      <vt:lpstr>Results</vt:lpstr>
      <vt:lpstr>Summary</vt:lpstr>
      <vt:lpstr>Model Updates for 9/29 Design Closure</vt:lpstr>
      <vt:lpstr>Model Changes</vt:lpstr>
      <vt:lpstr>Updated Results</vt:lpstr>
      <vt:lpstr>Conclusion</vt:lpstr>
      <vt:lpstr>Model Updates for 4/7/2026 Design Closure</vt:lpstr>
      <vt:lpstr>Model Changes</vt:lpstr>
      <vt:lpstr>Updated Results</vt:lpstr>
      <vt:lpstr>Updated 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Thermal Analysis</dc:title>
  <dc:creator>Austin Hannon</dc:creator>
  <cp:revision>18</cp:revision>
  <cp:lastPrinted>2020-10-28T18:32:50Z</cp:lastPrinted>
  <dcterms:created xsi:type="dcterms:W3CDTF">2020-02-04T23:30:39Z</dcterms:created>
  <dcterms:modified xsi:type="dcterms:W3CDTF">2026-10-06T21:02:20Z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0x010100BB7E5D7532F3A346A53727F4301B63EB</vt:lpwstr>
  </property>
  <property fmtid="{D5CDD505-2E9C-101B-9397-08002B2CF9AE}" pid="3" name="MSIP_Label_defa4170-0d19-0005-0004-bc88714345d2_Enabled">
    <vt:lpwstr>true</vt:lpwstr>
  </property>
  <property fmtid="{D5CDD505-2E9C-101B-9397-08002B2CF9AE}" pid="4" name="MSIP_Label_defa4170-0d19-0005-0004-bc88714345d2_SetDate">
    <vt:lpwstr>2023-10-18T18:52:41Z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1b081ee7-9daa-4f2e-8e49-bdce12c8f7ba</vt:lpwstr>
  </property>
  <property fmtid="{D5CDD505-2E9C-101B-9397-08002B2CF9AE}" pid="8" name="MSIP_Label_defa4170-0d19-0005-0004-bc88714345d2_ActionId">
    <vt:lpwstr>228b391c-8287-4401-877e-c67357b7a3e1</vt:lpwstr>
  </property>
  <property fmtid="{D5CDD505-2E9C-101B-9397-08002B2CF9AE}" pid="9" name="MSIP_Label_defa4170-0d19-0005-0004-bc88714345d2_ContentBits">
    <vt:lpwstr>0</vt:lpwstr>
  </property>
  <property fmtid="{D5CDD505-2E9C-101B-9397-08002B2CF9AE}" pid="10" name="MediaServiceImageTags">
    <vt:lpwstr/>
  </property>
  <property fmtid="{D5CDD505-2E9C-101B-9397-08002B2CF9AE}" pid="11" name="xd_ProgID">
    <vt:lpwstr/>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xd_Signature">
    <vt:bool>false</vt:bool>
  </property>
  <property fmtid="{D5CDD505-2E9C-101B-9397-08002B2CF9AE}" pid="18" name="GUID">
    <vt:lpwstr>30227d3d-b45f-4a78-a6a0-1a72eaff1f03</vt:lpwstr>
  </property>
  <property fmtid="{D5CDD505-2E9C-101B-9397-08002B2CF9AE}" pid="19" name="TriggerFlowInfo">
    <vt:lpwstr/>
  </property>
</Properties>
</file>